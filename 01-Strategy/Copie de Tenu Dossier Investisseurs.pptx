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A13C7A1-A548-8E42-9832-69DC2013CA6E}" type="datetimeFigureOut">
              <a:rPr lang="fr-FR" smtClean="0"/>
              <a:t>29/10/2026</a:t>
            </a:fld>
            <a:endParaRPr lang="fr-FR"/>
          </a:p>
        </p:txBody>
      </p:sp>
      <p:sp>
        <p:nvSpPr>
          <p:cNvPr id="4" name="Espace réservé de l'image des diapositives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A5560BF-996C-704C-B0E1-2F07330ECBFF}" type="slidenum">
              <a:rPr lang="fr-FR" smtClean="0"/>
              <a:t>‹N°›</a:t>
            </a:fld>
            <a:endParaRPr lang="fr-FR"/>
          </a:p>
        </p:txBody>
      </p:sp>
    </p:spTree>
    <p:extLst>
      <p:ext uri="{BB962C8B-B14F-4D97-AF65-F5344CB8AC3E}">
        <p14:creationId xmlns:p14="http://schemas.microsoft.com/office/powerpoint/2010/main" val="1104172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Vingt secondes. Une phrase : Tenu vend au propriétaire particulier un état des lieux à distance que son locataire étranger comprend et signe. Le reste du dossier montre le marché, le produit, le cadre juridique, l’économie unitaire, le plan commercial et ce que nous proposons aux investisseurs. Tous les chiffres viennent du dossier de l’équipe et y sont qualifiés de scénarios.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Cinquante secondes. Le parc est une borne, pas un marché : 7,88 millions de logements occupés, dont 64 % gérés en direct. Le marché initial est la plage : les propriétaires franciliens qui louent en direct aux clients des cabinets de relocation et aux étudiants des écoles. Scénario central : 1 493 propriétaires, 1 887 dossiers par an, 142 k€ de potentiel à 75 € le dossier. Un seul chiffre n’est pas sourcé, la part de locations directes, et il explique tout l’écart entre scénarios ; il se mesure en cinq entretiens de cabinets.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Cinquante secondes. Le principe tient en une phrase : le locataire capture sur place, le propriétaire valide à distance, la plateforme certifie. L’innovation n’est pas l’IA, c’est la chaîne complète : capture guidée dans la langue du locataire, preuve scellée côté serveur, double signature avancée, comparaison à la sortie. L’IA reste une aide à la décision humaine et abstient quand elle ne sait pas. Préciser que la spécification produit ne présente aucune fonction comme implémentée tant que la recette n’est pas faite.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Cinquante secondes. La courbe se lit en deux mouvements. Tenu baisse ou retire ce que les outils génériques font déjà très bien et pour presque rien : le prix mensuel, la gestion locative, la vérification des avis d’impôt. Tenu crée ou élève ce que ni l’agence, ni l’application, ni le commissaire ne servent au propriétaire absent d’un locataire étranger : la langue, la double signature à distance, la vidéo, le suivi jusqu’à la restitution. Sur la sécurité juridique du constat, Tenu reste au niveau moyen tant que l’avocat n’a pas confirmé le caractère contradictoire à distance ; c’est la condition G0.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Quarante secondes. Lire le schéma par lignes : le propriétaire arrive par un prescripteur, crée le bien, paie le pack, suit la capture à distance, signe, puis valide la sortie et restitue à temps. Le locataire est invité gratuitement, dépose ses pièces ou son lien DossierFacile, capture dans sa langue, signe et conserve sa copie. La plateforme porte la cellule mise en valeur : état des lieux à distance avec inventaire, empreinte, double signature et PDF bilingue. L’équipe tient l’assistance pendant la capture, le contrôle de 10 % des constats et la médiation.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Cinquante secondes. Le modèle juridique est volontairement étroit : un seul client, un seul contrat, la France, la résidence principale. Trois conditions précèdent la première vente ; la première est la plus lourde, car si l’état des lieux à distance n’est pas tenu pour contradictoire, toute la proposition tombe. Les cinq risques critiques du registre : un score qui décide de l’accès au logement, un faux positif sur des pièces étrangères, une fuite d’identités ou de revenus, un bail incomplet ou une clause interdite, un acte perdu ou un faux statut signé.</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Cinquante secondes. L’économie unitaire est simple : à 69 €, 57,50 € hors taxes, 1,63 € de paiement, 10,84 € de coûts directs, 45,03 € de contribution en direct ou 33,53 € après une commission de 20 % du HT à un prescripteur. Hypothèses : carte EEE à 1,5 % plus 0,25 €, Stripe Tax 0,5 %, trois analyses IA à 0,30 €, stockage et vidéo pour un bail de 24 mois, signature 2 € sur devis à confirmer, contrôle humain dix minutes à 35 € de l’heure. Le point de vigilance : à 49 €, tenir 25 % du HT impose moins de 7 minutes de temps humain par pack. Le modèle complet reste à reconstruire par la Finance ; aucun chiffre de rentabilité n’est établi sans les entrées listées.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Quarante-cinq secondes. Le canal est le cœur du plan : au lieu de démarcher des propriétaires un par un, Tenu passe par les quarante à cinquante cabinets de relocation indépendants d’Île-de-France, qui installent chaque année des milliers de salariés expatriés et trouvent une partie des logements chez des particuliers. Les écoles sont la porte parallèle pour obtenir vite les premiers dossiers et témoignages. L’option A se lance avec les premiers cabinets ; l’option B, payée par le cabinet ou l’employeur, attend un volume et une requalification juridique.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Quarante-cinq secondes. Quatre phases, chacune avec un critère de passage mesurable : préparation, tests, saison des mutations, extension. Les arrivées de salariés expatriés se concentrent l’été pour les familles, celles des étudiants suivent les rentrées ; les propriétaires préparent leurs locations quatre à huit semaines avant. Scénario central à douze mois : 5 à 8 cabinets, 299 propriétaires, 377 dossiers, 28 k€. Rappeler que ce sont des hypothèses du Marketing et non une prévision approuvée par la Finance.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Cinquante secondes. Nous ne demandons pas un chèque sur un calendrier ; nous proposons un financement par tranches, chacune libérée par une porte et ses preuves. G0 prouve que l’on peut vendre légalement et que les propriétaires veulent payer ; G1 prouve la demande et l’économie unitaire sur quarante baux payés ; G2 prouve que l’extension se finance par la contribution de la saison. Le besoin documenté est de 13 à 22 k€ sur douze mois, hors assurance, DPO et temps d’équipe ; le montant total, l’instrument et la valorisation se discutent avec vous sur cette base.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0" y="812719"/>
            <a:ext cx="10566533" cy="795692"/>
          </a:xfrm>
          <a:prstGeom prst="rect">
            <a:avLst/>
          </a:prstGeom>
          <a:noFill/>
          <a:ln/>
        </p:spPr>
        <p:txBody>
          <a:bodyPr wrap="square" lIns="0" tIns="0" rIns="0" bIns="0" rtlCol="0" anchor="t"/>
          <a:lstStyle>
            <a:lvl1pPr marL="0" indent="0" algn="l">
              <a:lnSpc>
                <a:spcPct val="115000"/>
              </a:lnSpc>
              <a:buNone/>
              <a:defRPr lang="en-US" sz="2850" dirty="0">
                <a:solidFill>
                  <a:srgbClr val="033A70"/>
                </a:solidFill>
                <a:latin typeface="Source Sans 3" pitchFamily="34" charset="0"/>
                <a:ea typeface="Source Sans 3" pitchFamily="34" charset="-122"/>
                <a:cs typeface="Source Sans 3" pitchFamily="34" charset="-120"/>
              </a:defRPr>
            </a:lvl1pPr>
          </a:lstStyle>
          <a:p>
            <a:pPr marL="0" indent="0" algn="l">
              <a:lnSpc>
                <a:spcPct val="115000"/>
              </a:lnSpc>
              <a:buNone/>
            </a:pPr>
            <a:endParaRPr lang="en-US" sz="2850" dirty="0"/>
          </a:p>
        </p:txBody>
      </p:sp>
      <p:sp>
        <p:nvSpPr>
          <p:cNvPr id="3" name="Text Placeholder 2"/>
          <p:cNvSpPr>
            <a:spLocks noGrp="1"/>
          </p:cNvSpPr>
          <p:nvPr>
            <p:ph type="body" idx="101"/>
          </p:nvPr>
        </p:nvSpPr>
        <p:spPr>
          <a:xfrm>
            <a:off x="812720" y="1913211"/>
            <a:ext cx="10566480" cy="4131989"/>
          </a:xfrm>
          <a:prstGeom prst="rect">
            <a:avLst/>
          </a:prstGeom>
          <a:noFill/>
          <a:ln/>
        </p:spPr>
        <p:txBody>
          <a:bodyPr wrap="square" lIns="0" tIns="0" rIns="0" bIns="0" rtlCol="0" anchor="t"/>
          <a:lstStyle>
            <a:lvl1pPr marL="0" indent="0" algn="l">
              <a:lnSpc>
                <a:spcPct val="140000"/>
              </a:lnSpc>
              <a:buNone/>
              <a:defRPr lang="en-US" sz="1600" dirty="0">
                <a:solidFill>
                  <a:srgbClr val="033A70"/>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0" y="812719"/>
            <a:ext cx="10566533" cy="795692"/>
          </a:xfrm>
          <a:prstGeom prst="rect">
            <a:avLst/>
          </a:prstGeom>
          <a:noFill/>
          <a:ln/>
        </p:spPr>
        <p:txBody>
          <a:bodyPr wrap="square" lIns="0" tIns="0" rIns="0" bIns="0" rtlCol="0" anchor="t"/>
          <a:lstStyle>
            <a:lvl1pPr marL="0" indent="0" algn="l">
              <a:lnSpc>
                <a:spcPct val="115000"/>
              </a:lnSpc>
              <a:buNone/>
              <a:defRPr lang="en-US" sz="2850" dirty="0">
                <a:solidFill>
                  <a:srgbClr val="033A70"/>
                </a:solidFill>
                <a:latin typeface="Source Sans 3" pitchFamily="34" charset="0"/>
                <a:ea typeface="Source Sans 3" pitchFamily="34" charset="-122"/>
                <a:cs typeface="Source Sans 3" pitchFamily="34" charset="-120"/>
              </a:defRPr>
            </a:lvl1pPr>
          </a:lstStyle>
          <a:p>
            <a:pPr marL="0" indent="0" algn="l">
              <a:lnSpc>
                <a:spcPct val="115000"/>
              </a:lnSpc>
              <a:buNone/>
            </a:pPr>
            <a:endParaRPr lang="en-US" sz="2850" dirty="0"/>
          </a:p>
        </p:txBody>
      </p:sp>
      <p:sp>
        <p:nvSpPr>
          <p:cNvPr id="3" name="Text Placeholder 2"/>
          <p:cNvSpPr>
            <a:spLocks noGrp="1"/>
          </p:cNvSpPr>
          <p:nvPr>
            <p:ph type="body" idx="101"/>
          </p:nvPr>
        </p:nvSpPr>
        <p:spPr>
          <a:xfrm>
            <a:off x="812720" y="1913211"/>
            <a:ext cx="10566480" cy="4131989"/>
          </a:xfrm>
          <a:prstGeom prst="rect">
            <a:avLst/>
          </a:prstGeom>
          <a:noFill/>
          <a:ln/>
        </p:spPr>
        <p:txBody>
          <a:bodyPr wrap="square" lIns="0" tIns="0" rIns="0" bIns="0" rtlCol="0" anchor="t"/>
          <a:lstStyle>
            <a:lvl1pPr marL="0" indent="0" algn="l">
              <a:lnSpc>
                <a:spcPct val="140000"/>
              </a:lnSpc>
              <a:buNone/>
              <a:defRPr lang="en-US" sz="1600" dirty="0">
                <a:solidFill>
                  <a:srgbClr val="033A70"/>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3A70"/>
        </a:solidFill>
        <a:effectLst/>
      </p:bgPr>
    </p:bg>
    <p:spTree>
      <p:nvGrpSpPr>
        <p:cNvPr id="1" name=""/>
        <p:cNvGrpSpPr/>
        <p:nvPr/>
      </p:nvGrpSpPr>
      <p:grpSpPr>
        <a:xfrm>
          <a:off x="0" y="0"/>
          <a:ext cx="0" cy="0"/>
          <a:chOff x="0" y="0"/>
          <a:chExt cx="0" cy="0"/>
        </a:xfrm>
      </p:grpSpPr>
      <p:pic>
        <p:nvPicPr>
          <p:cNvPr id="2" name="Image 0" descr="Marque Tenu : figure gravée dans un disque"/>
          <p:cNvPicPr>
            <a:picLocks noChangeAspect="1"/>
          </p:cNvPicPr>
          <p:nvPr/>
        </p:nvPicPr>
        <p:blipFill>
          <a:blip r:embed="rId3"/>
          <a:srcRect/>
          <a:stretch/>
        </p:blipFill>
        <p:spPr>
          <a:xfrm>
            <a:off x="812720" y="1078101"/>
            <a:ext cx="1523997" cy="1523997"/>
          </a:xfrm>
          <a:prstGeom prst="rect">
            <a:avLst/>
          </a:prstGeom>
        </p:spPr>
      </p:pic>
      <p:sp>
        <p:nvSpPr>
          <p:cNvPr id="3" name="Text 0"/>
          <p:cNvSpPr/>
          <p:nvPr/>
        </p:nvSpPr>
        <p:spPr>
          <a:xfrm>
            <a:off x="2743031" y="812720"/>
            <a:ext cx="8502647" cy="238792"/>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FC4E8"/>
                </a:solidFill>
                <a:latin typeface="Source Sans 3" pitchFamily="34" charset="0"/>
                <a:ea typeface="Source Sans 3" pitchFamily="34" charset="-122"/>
                <a:cs typeface="Source Sans 3" pitchFamily="34" charset="-120"/>
              </a:rPr>
              <a:t>DOSSIER INVESTISSEURS · AMORÇAGE · PROPTECH, TRUSTTECH · FRANCE</a:t>
            </a:r>
            <a:endParaRPr lang="en-US" sz="1200" dirty="0"/>
          </a:p>
        </p:txBody>
      </p:sp>
      <p:sp>
        <p:nvSpPr>
          <p:cNvPr id="4" name="Text 1"/>
          <p:cNvSpPr>
            <a:spLocks noGrp="1"/>
          </p:cNvSpPr>
          <p:nvPr>
            <p:ph type="title"/>
          </p:nvPr>
        </p:nvSpPr>
        <p:spPr>
          <a:xfrm>
            <a:off x="2743031" y="1153096"/>
            <a:ext cx="8502647" cy="914383"/>
          </a:xfrm>
          <a:prstGeom prst="rect">
            <a:avLst/>
          </a:prstGeom>
          <a:noFill/>
          <a:ln/>
        </p:spPr>
        <p:txBody>
          <a:bodyPr wrap="square" lIns="0" tIns="0" rIns="0" bIns="0" rtlCol="0" anchor="t">
            <a:normAutofit/>
          </a:bodyPr>
          <a:lstStyle/>
          <a:p>
            <a:pPr marL="0" indent="0" algn="l">
              <a:lnSpc>
                <a:spcPts val="7000"/>
              </a:lnSpc>
              <a:buNone/>
            </a:pPr>
            <a:r>
              <a:rPr lang="en-US" sz="7000" b="1" i="0" kern="0" spc="-150" dirty="0">
                <a:solidFill>
                  <a:srgbClr val="F6F8FB"/>
                </a:solidFill>
                <a:latin typeface="Source Sans 3" pitchFamily="34" charset="0"/>
                <a:ea typeface="Source Sans 3" pitchFamily="34" charset="-122"/>
                <a:cs typeface="Source Sans 3" pitchFamily="34" charset="-120"/>
              </a:rPr>
              <a:t>Tenu</a:t>
            </a:r>
            <a:endParaRPr lang="en-US" sz="7000" dirty="0"/>
          </a:p>
        </p:txBody>
      </p:sp>
      <p:sp>
        <p:nvSpPr>
          <p:cNvPr id="5" name="Text 2"/>
          <p:cNvSpPr/>
          <p:nvPr/>
        </p:nvSpPr>
        <p:spPr>
          <a:xfrm>
            <a:off x="2743031" y="2169064"/>
            <a:ext cx="8502647" cy="723906"/>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C9DBEE"/>
                </a:solidFill>
                <a:latin typeface="Source Sans 3" pitchFamily="34" charset="0"/>
                <a:ea typeface="Source Sans 3" pitchFamily="34" charset="-122"/>
                <a:cs typeface="Source Sans 3" pitchFamily="34" charset="-120"/>
              </a:rPr>
              <a:t>Sécuriser la location internationale, du dossier candidat à l’état des lieux de sortie.</a:t>
            </a:r>
            <a:endParaRPr lang="en-US" sz="2200" dirty="0"/>
          </a:p>
        </p:txBody>
      </p:sp>
      <p:sp>
        <p:nvSpPr>
          <p:cNvPr id="6" name="Text 3"/>
          <p:cNvSpPr/>
          <p:nvPr/>
        </p:nvSpPr>
        <p:spPr>
          <a:xfrm>
            <a:off x="812720" y="4873963"/>
            <a:ext cx="3420614" cy="968054"/>
          </a:xfrm>
          <a:prstGeom prst="rect">
            <a:avLst/>
          </a:prstGeom>
          <a:solidFill>
            <a:srgbClr val="0B4A86"/>
          </a:solidFill>
          <a:ln/>
        </p:spPr>
        <p:txBody>
          <a:bodyPr wrap="square" lIns="177797" tIns="175587" rIns="85846" bIns="152400" rtlCol="0" anchor="t">
            <a:normAutofit/>
          </a:bodyPr>
          <a:lstStyle/>
          <a:p>
            <a:pPr marL="0" indent="0" algn="l">
              <a:lnSpc>
                <a:spcPts val="1680"/>
              </a:lnSpc>
              <a:buNone/>
            </a:pPr>
            <a:r>
              <a:rPr lang="en-US" sz="1200" b="1" dirty="0">
                <a:solidFill>
                  <a:srgbClr val="C9DBEE"/>
                </a:solidFill>
                <a:latin typeface="Source Sans 3" pitchFamily="34" charset="0"/>
                <a:ea typeface="Source Sans 3" pitchFamily="34" charset="-122"/>
                <a:cs typeface="Source Sans 3" pitchFamily="34" charset="-120"/>
              </a:rPr>
              <a:t>Le client :</a:t>
            </a:r>
            <a:r>
              <a:rPr lang="en-US" sz="1200" dirty="0">
                <a:solidFill>
                  <a:srgbClr val="C9DBEE"/>
                </a:solidFill>
                <a:latin typeface="Source Sans 3" pitchFamily="34" charset="0"/>
                <a:ea typeface="Source Sans 3" pitchFamily="34" charset="-122"/>
                <a:cs typeface="Source Sans 3" pitchFamily="34" charset="-120"/>
              </a:rPr>
              <a:t> le propriétaire particulier qui loue en direct à un locataire expatrié.</a:t>
            </a:r>
            <a:endParaRPr lang="en-US" sz="1200" dirty="0"/>
          </a:p>
        </p:txBody>
      </p:sp>
      <p:sp>
        <p:nvSpPr>
          <p:cNvPr id="7" name="Shape 4"/>
          <p:cNvSpPr/>
          <p:nvPr/>
        </p:nvSpPr>
        <p:spPr>
          <a:xfrm>
            <a:off x="812720" y="4886663"/>
            <a:ext cx="3420614" cy="0"/>
          </a:xfrm>
          <a:prstGeom prst="line">
            <a:avLst/>
          </a:prstGeom>
          <a:noFill/>
          <a:ln w="25400">
            <a:solidFill>
              <a:srgbClr val="0380A5"/>
            </a:solidFill>
            <a:prstDash val="solid"/>
          </a:ln>
        </p:spPr>
      </p:sp>
      <p:sp>
        <p:nvSpPr>
          <p:cNvPr id="8" name="Text 5"/>
          <p:cNvSpPr/>
          <p:nvPr/>
        </p:nvSpPr>
        <p:spPr>
          <a:xfrm>
            <a:off x="4385679" y="4873963"/>
            <a:ext cx="3420614" cy="968054"/>
          </a:xfrm>
          <a:prstGeom prst="rect">
            <a:avLst/>
          </a:prstGeom>
          <a:solidFill>
            <a:srgbClr val="0B4A86"/>
          </a:solidFill>
          <a:ln/>
        </p:spPr>
        <p:txBody>
          <a:bodyPr wrap="square" lIns="177797" tIns="175587" rIns="85846" bIns="126891" rtlCol="0" anchor="t">
            <a:normAutofit/>
          </a:bodyPr>
          <a:lstStyle/>
          <a:p>
            <a:pPr marL="0" indent="0" algn="l">
              <a:lnSpc>
                <a:spcPts val="1680"/>
              </a:lnSpc>
              <a:buNone/>
            </a:pPr>
            <a:r>
              <a:rPr lang="en-US" sz="1200" b="1" dirty="0">
                <a:solidFill>
                  <a:srgbClr val="C9DBEE"/>
                </a:solidFill>
                <a:latin typeface="Source Sans 3" pitchFamily="34" charset="0"/>
                <a:ea typeface="Source Sans 3" pitchFamily="34" charset="-122"/>
                <a:cs typeface="Source Sans 3" pitchFamily="34" charset="-120"/>
              </a:rPr>
              <a:t>Le produit :</a:t>
            </a:r>
            <a:r>
              <a:rPr lang="en-US" sz="1200" dirty="0">
                <a:solidFill>
                  <a:srgbClr val="C9DBEE"/>
                </a:solidFill>
                <a:latin typeface="Source Sans 3" pitchFamily="34" charset="0"/>
                <a:ea typeface="Source Sans 3" pitchFamily="34" charset="-122"/>
                <a:cs typeface="Source Sans 3" pitchFamily="34" charset="-120"/>
              </a:rPr>
              <a:t> un état des lieux à distance, multilingue, signé par les deux parties, vendu à l’acte.</a:t>
            </a:r>
            <a:endParaRPr lang="en-US" sz="1200" dirty="0"/>
          </a:p>
        </p:txBody>
      </p:sp>
      <p:sp>
        <p:nvSpPr>
          <p:cNvPr id="9" name="Shape 6"/>
          <p:cNvSpPr/>
          <p:nvPr/>
        </p:nvSpPr>
        <p:spPr>
          <a:xfrm>
            <a:off x="4385679" y="4886663"/>
            <a:ext cx="3420614" cy="0"/>
          </a:xfrm>
          <a:prstGeom prst="line">
            <a:avLst/>
          </a:prstGeom>
          <a:noFill/>
          <a:ln w="25400">
            <a:solidFill>
              <a:srgbClr val="0380A5"/>
            </a:solidFill>
            <a:prstDash val="solid"/>
          </a:ln>
        </p:spPr>
      </p:sp>
      <p:sp>
        <p:nvSpPr>
          <p:cNvPr id="10" name="Text 7"/>
          <p:cNvSpPr/>
          <p:nvPr/>
        </p:nvSpPr>
        <p:spPr>
          <a:xfrm>
            <a:off x="7958639" y="4873963"/>
            <a:ext cx="3420614" cy="968054"/>
          </a:xfrm>
          <a:prstGeom prst="rect">
            <a:avLst/>
          </a:prstGeom>
          <a:solidFill>
            <a:srgbClr val="0B4A86"/>
          </a:solidFill>
          <a:ln/>
        </p:spPr>
        <p:txBody>
          <a:bodyPr wrap="square" lIns="177796" tIns="175587" rIns="85846" bIns="126891" rtlCol="0" anchor="t">
            <a:normAutofit/>
          </a:bodyPr>
          <a:lstStyle/>
          <a:p>
            <a:pPr marL="0" indent="0" algn="l">
              <a:lnSpc>
                <a:spcPts val="1680"/>
              </a:lnSpc>
              <a:buNone/>
            </a:pPr>
            <a:r>
              <a:rPr lang="en-US" sz="1200" b="1" dirty="0">
                <a:solidFill>
                  <a:srgbClr val="C9DBEE"/>
                </a:solidFill>
                <a:latin typeface="Source Sans 3" pitchFamily="34" charset="0"/>
                <a:ea typeface="Source Sans 3" pitchFamily="34" charset="-122"/>
                <a:cs typeface="Source Sans 3" pitchFamily="34" charset="-120"/>
              </a:rPr>
              <a:t>La promesse :</a:t>
            </a:r>
            <a:r>
              <a:rPr lang="en-US" sz="1200" dirty="0">
                <a:solidFill>
                  <a:srgbClr val="C9DBEE"/>
                </a:solidFill>
                <a:latin typeface="Source Sans 3" pitchFamily="34" charset="0"/>
                <a:ea typeface="Source Sans 3" pitchFamily="34" charset="-122"/>
                <a:cs typeface="Source Sans 3" pitchFamily="34" charset="-120"/>
              </a:rPr>
              <a:t> moins de déplacements, moins de litiges, une preuve que le locataire étranger comprend.</a:t>
            </a:r>
            <a:endParaRPr lang="en-US" sz="1200" dirty="0"/>
          </a:p>
        </p:txBody>
      </p:sp>
      <p:sp>
        <p:nvSpPr>
          <p:cNvPr id="11" name="Shape 8"/>
          <p:cNvSpPr/>
          <p:nvPr/>
        </p:nvSpPr>
        <p:spPr>
          <a:xfrm>
            <a:off x="7958639" y="4886663"/>
            <a:ext cx="3420614" cy="0"/>
          </a:xfrm>
          <a:prstGeom prst="line">
            <a:avLst/>
          </a:prstGeom>
          <a:noFill/>
          <a:ln w="25400">
            <a:solidFill>
              <a:srgbClr val="0380A5"/>
            </a:solidFill>
            <a:prstDash val="solid"/>
          </a:ln>
        </p:spPr>
      </p:sp>
      <p:sp>
        <p:nvSpPr>
          <p:cNvPr id="12" name="Text 9"/>
          <p:cNvSpPr/>
          <p:nvPr/>
        </p:nvSpPr>
        <p:spPr>
          <a:xfrm>
            <a:off x="812720" y="6238278"/>
            <a:ext cx="10883342"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C4E8"/>
                </a:solidFill>
                <a:latin typeface="Source Sans 3" pitchFamily="34" charset="0"/>
                <a:ea typeface="Source Sans 3" pitchFamily="34" charset="-122"/>
                <a:cs typeface="Source Sans 3" pitchFamily="34" charset="-120"/>
              </a:rPr>
              <a:t>tenu.world · Chiffres et objectifs présentés comme des scénarios de l’équipe ; performances à démontrer en pilote.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20" y="812720"/>
            <a:ext cx="10883529" cy="822541"/>
          </a:xfrm>
          <a:prstGeom prst="rect">
            <a:avLst/>
          </a:prstGeom>
          <a:noFill/>
          <a:ln/>
        </p:spPr>
        <p:txBody>
          <a:bodyPr wrap="square" lIns="0" tIns="0" rIns="0" bIns="0" rtlCol="0" anchor="t">
            <a:normAutofit/>
          </a:bodyPr>
          <a:lstStyle/>
          <a:p>
            <a:pPr marL="0" indent="0" algn="l">
              <a:lnSpc>
                <a:spcPts val="3157"/>
              </a:lnSpc>
              <a:buNone/>
            </a:pPr>
            <a:r>
              <a:rPr lang="en-US" sz="2870" b="1" i="0" dirty="0">
                <a:solidFill>
                  <a:srgbClr val="033A70"/>
                </a:solidFill>
                <a:latin typeface="Source Sans 3" pitchFamily="34" charset="0"/>
                <a:ea typeface="Source Sans 3" pitchFamily="34" charset="-122"/>
                <a:cs typeface="Source Sans 3" pitchFamily="34" charset="-120"/>
              </a:rPr>
              <a:t>Analyse du marché : un parc immense, une plage de débarquement précise</a:t>
            </a:r>
            <a:endParaRPr lang="en-US" sz="2870" dirty="0"/>
          </a:p>
        </p:txBody>
      </p:sp>
      <p:sp>
        <p:nvSpPr>
          <p:cNvPr id="3" name="Text 1"/>
          <p:cNvSpPr/>
          <p:nvPr/>
        </p:nvSpPr>
        <p:spPr>
          <a:xfrm>
            <a:off x="812720" y="1813018"/>
            <a:ext cx="4055085" cy="238702"/>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Demande et parc, sources officielles</a:t>
            </a:r>
            <a:endParaRPr lang="en-US" sz="1400" dirty="0"/>
          </a:p>
        </p:txBody>
      </p:sp>
      <p:sp>
        <p:nvSpPr>
          <p:cNvPr id="4" name="Shape 2"/>
          <p:cNvSpPr/>
          <p:nvPr/>
        </p:nvSpPr>
        <p:spPr>
          <a:xfrm>
            <a:off x="812720" y="2156479"/>
            <a:ext cx="3936976" cy="0"/>
          </a:xfrm>
          <a:prstGeom prst="line">
            <a:avLst/>
          </a:prstGeom>
          <a:noFill/>
          <a:ln w="6350">
            <a:solidFill>
              <a:srgbClr val="C9D6E4"/>
            </a:solidFill>
            <a:prstDash val="solid"/>
          </a:ln>
        </p:spPr>
      </p:sp>
      <p:sp>
        <p:nvSpPr>
          <p:cNvPr id="5" name="Text 3"/>
          <p:cNvSpPr/>
          <p:nvPr/>
        </p:nvSpPr>
        <p:spPr>
          <a:xfrm>
            <a:off x="812720" y="2247954"/>
            <a:ext cx="4055085" cy="380903"/>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33A70"/>
                </a:solidFill>
                <a:latin typeface="Source Sans 3" pitchFamily="34" charset="0"/>
                <a:ea typeface="Source Sans 3" pitchFamily="34" charset="-122"/>
                <a:cs typeface="Source Sans 3" pitchFamily="34" charset="-120"/>
              </a:rPr>
              <a:t>~443 500</a:t>
            </a:r>
            <a:endParaRPr lang="en-US" sz="2000" dirty="0"/>
          </a:p>
        </p:txBody>
      </p:sp>
      <p:sp>
        <p:nvSpPr>
          <p:cNvPr id="6" name="Text 4"/>
          <p:cNvSpPr/>
          <p:nvPr/>
        </p:nvSpPr>
        <p:spPr>
          <a:xfrm>
            <a:off x="812720" y="2616137"/>
            <a:ext cx="4055085" cy="42157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2354A"/>
                </a:solidFill>
                <a:latin typeface="Source Sans 3" pitchFamily="34" charset="0"/>
                <a:ea typeface="Source Sans 3" pitchFamily="34" charset="-122"/>
                <a:cs typeface="Source Sans 3" pitchFamily="34" charset="-120"/>
              </a:rPr>
              <a:t>étudiants étrangers dans le supérieur français (Campus France)</a:t>
            </a:r>
            <a:endParaRPr lang="en-US" sz="1200" dirty="0"/>
          </a:p>
        </p:txBody>
      </p:sp>
      <p:sp>
        <p:nvSpPr>
          <p:cNvPr id="7" name="Shape 5"/>
          <p:cNvSpPr/>
          <p:nvPr/>
        </p:nvSpPr>
        <p:spPr>
          <a:xfrm>
            <a:off x="812720" y="3231320"/>
            <a:ext cx="3936976" cy="0"/>
          </a:xfrm>
          <a:prstGeom prst="line">
            <a:avLst/>
          </a:prstGeom>
          <a:noFill/>
          <a:ln w="6350">
            <a:solidFill>
              <a:srgbClr val="C9D6E4"/>
            </a:solidFill>
            <a:prstDash val="solid"/>
          </a:ln>
        </p:spPr>
      </p:sp>
      <p:sp>
        <p:nvSpPr>
          <p:cNvPr id="8" name="Text 6"/>
          <p:cNvSpPr/>
          <p:nvPr/>
        </p:nvSpPr>
        <p:spPr>
          <a:xfrm>
            <a:off x="812720" y="3322795"/>
            <a:ext cx="4055085" cy="380903"/>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33A70"/>
                </a:solidFill>
                <a:latin typeface="Source Sans 3" pitchFamily="34" charset="0"/>
                <a:ea typeface="Source Sans 3" pitchFamily="34" charset="-122"/>
                <a:cs typeface="Source Sans 3" pitchFamily="34" charset="-120"/>
              </a:rPr>
              <a:t>~110 600 · ~58 400</a:t>
            </a:r>
            <a:endParaRPr lang="en-US" sz="2000" dirty="0"/>
          </a:p>
        </p:txBody>
      </p:sp>
      <p:sp>
        <p:nvSpPr>
          <p:cNvPr id="9" name="Text 7"/>
          <p:cNvSpPr/>
          <p:nvPr/>
        </p:nvSpPr>
        <p:spPr>
          <a:xfrm>
            <a:off x="812720" y="3690978"/>
            <a:ext cx="4055085" cy="42157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2354A"/>
                </a:solidFill>
                <a:latin typeface="Source Sans 3" pitchFamily="34" charset="0"/>
                <a:ea typeface="Source Sans 3" pitchFamily="34" charset="-122"/>
                <a:cs typeface="Source Sans 3" pitchFamily="34" charset="-120"/>
              </a:rPr>
              <a:t>premiers titres de séjour par an, étudiants et économiques, pays tiers (DGEF)</a:t>
            </a:r>
            <a:endParaRPr lang="en-US" sz="1200" dirty="0"/>
          </a:p>
        </p:txBody>
      </p:sp>
      <p:sp>
        <p:nvSpPr>
          <p:cNvPr id="10" name="Shape 8"/>
          <p:cNvSpPr/>
          <p:nvPr/>
        </p:nvSpPr>
        <p:spPr>
          <a:xfrm>
            <a:off x="812720" y="4306160"/>
            <a:ext cx="3936976" cy="0"/>
          </a:xfrm>
          <a:prstGeom prst="line">
            <a:avLst/>
          </a:prstGeom>
          <a:noFill/>
          <a:ln w="6350">
            <a:solidFill>
              <a:srgbClr val="C9D6E4"/>
            </a:solidFill>
            <a:prstDash val="solid"/>
          </a:ln>
        </p:spPr>
      </p:sp>
      <p:sp>
        <p:nvSpPr>
          <p:cNvPr id="11" name="Text 9"/>
          <p:cNvSpPr/>
          <p:nvPr/>
        </p:nvSpPr>
        <p:spPr>
          <a:xfrm>
            <a:off x="812720" y="4397635"/>
            <a:ext cx="4055085" cy="380903"/>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33A70"/>
                </a:solidFill>
                <a:latin typeface="Source Sans 3" pitchFamily="34" charset="0"/>
                <a:ea typeface="Source Sans 3" pitchFamily="34" charset="-122"/>
                <a:cs typeface="Source Sans 3" pitchFamily="34" charset="-120"/>
              </a:rPr>
              <a:t>~7,88 M</a:t>
            </a:r>
            <a:endParaRPr lang="en-US" sz="2000" dirty="0"/>
          </a:p>
        </p:txBody>
      </p:sp>
      <p:sp>
        <p:nvSpPr>
          <p:cNvPr id="12" name="Text 10"/>
          <p:cNvSpPr/>
          <p:nvPr/>
        </p:nvSpPr>
        <p:spPr>
          <a:xfrm>
            <a:off x="812720" y="4765818"/>
            <a:ext cx="4055085" cy="42157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2354A"/>
                </a:solidFill>
                <a:latin typeface="Source Sans 3" pitchFamily="34" charset="0"/>
                <a:ea typeface="Source Sans 3" pitchFamily="34" charset="-122"/>
                <a:cs typeface="Source Sans 3" pitchFamily="34" charset="-120"/>
              </a:rPr>
              <a:t>logements occupés du parc locatif libre (SDES) ; un stock, pas des mises en location annuelles</a:t>
            </a:r>
            <a:endParaRPr lang="en-US" sz="1200" dirty="0"/>
          </a:p>
        </p:txBody>
      </p:sp>
      <p:sp>
        <p:nvSpPr>
          <p:cNvPr id="13" name="Shape 11"/>
          <p:cNvSpPr/>
          <p:nvPr/>
        </p:nvSpPr>
        <p:spPr>
          <a:xfrm>
            <a:off x="812720" y="5381001"/>
            <a:ext cx="3936976" cy="0"/>
          </a:xfrm>
          <a:prstGeom prst="line">
            <a:avLst/>
          </a:prstGeom>
          <a:noFill/>
          <a:ln w="6350">
            <a:solidFill>
              <a:srgbClr val="C9D6E4"/>
            </a:solidFill>
            <a:prstDash val="solid"/>
          </a:ln>
        </p:spPr>
      </p:sp>
      <p:sp>
        <p:nvSpPr>
          <p:cNvPr id="14" name="Shape 12"/>
          <p:cNvSpPr/>
          <p:nvPr/>
        </p:nvSpPr>
        <p:spPr>
          <a:xfrm>
            <a:off x="812720" y="6328304"/>
            <a:ext cx="3936976" cy="0"/>
          </a:xfrm>
          <a:prstGeom prst="line">
            <a:avLst/>
          </a:prstGeom>
          <a:noFill/>
          <a:ln w="6350">
            <a:solidFill>
              <a:srgbClr val="C9D6E4"/>
            </a:solidFill>
            <a:prstDash val="solid"/>
          </a:ln>
        </p:spPr>
      </p:sp>
      <p:sp>
        <p:nvSpPr>
          <p:cNvPr id="15" name="Text 13"/>
          <p:cNvSpPr/>
          <p:nvPr/>
        </p:nvSpPr>
        <p:spPr>
          <a:xfrm>
            <a:off x="812720" y="5472475"/>
            <a:ext cx="4055085" cy="380903"/>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33A70"/>
                </a:solidFill>
                <a:latin typeface="Source Sans 3" pitchFamily="34" charset="0"/>
                <a:ea typeface="Source Sans 3" pitchFamily="34" charset="-122"/>
                <a:cs typeface="Source Sans 3" pitchFamily="34" charset="-120"/>
              </a:rPr>
              <a:t>64 % · 53 %</a:t>
            </a:r>
            <a:endParaRPr lang="en-US" sz="2000" dirty="0"/>
          </a:p>
        </p:txBody>
      </p:sp>
      <p:sp>
        <p:nvSpPr>
          <p:cNvPr id="16" name="Text 14"/>
          <p:cNvSpPr/>
          <p:nvPr/>
        </p:nvSpPr>
        <p:spPr>
          <a:xfrm>
            <a:off x="812720" y="5840658"/>
            <a:ext cx="4055085" cy="42157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2354A"/>
                </a:solidFill>
                <a:latin typeface="Source Sans 3" pitchFamily="34" charset="0"/>
                <a:ea typeface="Source Sans 3" pitchFamily="34" charset="-122"/>
                <a:cs typeface="Source Sans 3" pitchFamily="34" charset="-120"/>
              </a:rPr>
              <a:t>du parc privé géré en direct, France et unité urbaine de Paris (ANIL) ; une location sur deux se conclut sans agence</a:t>
            </a:r>
            <a:endParaRPr lang="en-US" sz="1200" dirty="0"/>
          </a:p>
        </p:txBody>
      </p:sp>
      <p:sp>
        <p:nvSpPr>
          <p:cNvPr id="17" name="Text 15"/>
          <p:cNvSpPr/>
          <p:nvPr/>
        </p:nvSpPr>
        <p:spPr>
          <a:xfrm>
            <a:off x="5054477" y="1813018"/>
            <a:ext cx="6514519" cy="238702"/>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La plage : propriétaires franciliens louant en direct à des expatriés</a:t>
            </a:r>
            <a:endParaRPr lang="en-US" sz="1400" dirty="0"/>
          </a:p>
        </p:txBody>
      </p:sp>
      <p:sp>
        <p:nvSpPr>
          <p:cNvPr id="18" name="Shape 16"/>
          <p:cNvSpPr/>
          <p:nvPr/>
        </p:nvSpPr>
        <p:spPr>
          <a:xfrm>
            <a:off x="11376078" y="2153304"/>
            <a:ext cx="0" cy="2433177"/>
          </a:xfrm>
          <a:prstGeom prst="line">
            <a:avLst/>
          </a:prstGeom>
          <a:noFill/>
          <a:ln w="6350">
            <a:solidFill>
              <a:srgbClr val="C9D6E4"/>
            </a:solidFill>
            <a:prstDash val="solid"/>
          </a:ln>
        </p:spPr>
      </p:sp>
      <p:sp>
        <p:nvSpPr>
          <p:cNvPr id="19" name="Shape 17"/>
          <p:cNvSpPr/>
          <p:nvPr/>
        </p:nvSpPr>
        <p:spPr>
          <a:xfrm>
            <a:off x="5054477" y="4583307"/>
            <a:ext cx="6324776" cy="0"/>
          </a:xfrm>
          <a:prstGeom prst="line">
            <a:avLst/>
          </a:prstGeom>
          <a:noFill/>
          <a:ln w="6350">
            <a:solidFill>
              <a:srgbClr val="C9D6E4"/>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66070" y="2164898"/>
          <a:ext cx="6307386" cy="2415787"/>
        </p:xfrm>
        <a:graphic>
          <a:graphicData uri="http://schemas.openxmlformats.org/drawingml/2006/table">
            <a:tbl>
              <a:tblPr/>
              <a:tblGrid>
                <a:gridCol w="3279841">
                  <a:extLst>
                    <a:ext uri="{9D8B030D-6E8A-4147-A177-3AD203B41FA5}">
                      <a16:colId xmlns:a16="http://schemas.microsoft.com/office/drawing/2014/main" val="20000"/>
                    </a:ext>
                  </a:extLst>
                </a:gridCol>
                <a:gridCol w="1009182">
                  <a:extLst>
                    <a:ext uri="{9D8B030D-6E8A-4147-A177-3AD203B41FA5}">
                      <a16:colId xmlns:a16="http://schemas.microsoft.com/office/drawing/2014/main" val="20001"/>
                    </a:ext>
                  </a:extLst>
                </a:gridCol>
                <a:gridCol w="1009182">
                  <a:extLst>
                    <a:ext uri="{9D8B030D-6E8A-4147-A177-3AD203B41FA5}">
                      <a16:colId xmlns:a16="http://schemas.microsoft.com/office/drawing/2014/main" val="20002"/>
                    </a:ext>
                  </a:extLst>
                </a:gridCol>
                <a:gridCol w="1009182">
                  <a:extLst>
                    <a:ext uri="{9D8B030D-6E8A-4147-A177-3AD203B41FA5}">
                      <a16:colId xmlns:a16="http://schemas.microsoft.com/office/drawing/2014/main" val="20003"/>
                    </a:ext>
                  </a:extLst>
                </a:gridCol>
              </a:tblGrid>
              <a:tr h="331501">
                <a:tc>
                  <a:txBody>
                    <a:bodyPr/>
                    <a:lstStyle/>
                    <a:p>
                      <a:pPr marL="0" indent="0">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Scénarios de l’équipe</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Bas</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Central</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Haut</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extLst>
                  <a:ext uri="{0D108BD9-81ED-4DB2-BD59-A6C34878D82A}">
                    <a16:rowId xmlns:a16="http://schemas.microsoft.com/office/drawing/2014/main" val="10000"/>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Cabinets de relocation indépendants ciblés, Île-de-France</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42</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46</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52</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1"/>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Part de logements loués en direct par le propriétaire (hypothèse)</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15 %</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30 %</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50 %</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extLst>
                  <a:ext uri="{0D108BD9-81ED-4DB2-BD59-A6C34878D82A}">
                    <a16:rowId xmlns:a16="http://schemas.microsoft.com/office/drawing/2014/main" val="10002"/>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Propriétaires ciblables (cabinets, INSEAD et HEC)</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572</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1 493</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4 136</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3"/>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Dossiers par an dans la plage</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789</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1 887</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4 880</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4"/>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Potentiel annuel à 75 € le dossier (hypothèse)</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~59 k€</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~142 k€</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~366 k€</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extLst>
                  <a:ext uri="{0D108BD9-81ED-4DB2-BD59-A6C34878D82A}">
                    <a16:rowId xmlns:a16="http://schemas.microsoft.com/office/drawing/2014/main" val="10005"/>
                  </a:ext>
                </a:extLst>
              </a:tr>
            </a:tbl>
          </a:graphicData>
        </a:graphic>
      </p:graphicFrame>
      <p:sp>
        <p:nvSpPr>
          <p:cNvPr id="21" name="Shape 18"/>
          <p:cNvSpPr/>
          <p:nvPr/>
        </p:nvSpPr>
        <p:spPr>
          <a:xfrm>
            <a:off x="5054477" y="4713467"/>
            <a:ext cx="6324776" cy="1145579"/>
          </a:xfrm>
          <a:prstGeom prst="rect">
            <a:avLst/>
          </a:prstGeom>
          <a:solidFill>
            <a:srgbClr val="DBEAF9"/>
          </a:solidFill>
          <a:ln/>
        </p:spPr>
      </p:sp>
      <p:sp>
        <p:nvSpPr>
          <p:cNvPr id="22" name="Shape 19"/>
          <p:cNvSpPr/>
          <p:nvPr/>
        </p:nvSpPr>
        <p:spPr>
          <a:xfrm>
            <a:off x="5073527" y="4713467"/>
            <a:ext cx="0" cy="1145579"/>
          </a:xfrm>
          <a:prstGeom prst="line">
            <a:avLst/>
          </a:prstGeom>
          <a:noFill/>
          <a:ln w="38100">
            <a:solidFill>
              <a:srgbClr val="0380A5"/>
            </a:solidFill>
            <a:prstDash val="solid"/>
          </a:ln>
        </p:spPr>
      </p:sp>
      <p:sp>
        <p:nvSpPr>
          <p:cNvPr id="23" name="Text 20"/>
          <p:cNvSpPr/>
          <p:nvPr/>
        </p:nvSpPr>
        <p:spPr>
          <a:xfrm>
            <a:off x="5241603" y="4840451"/>
            <a:ext cx="6164864" cy="23879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33A70"/>
                </a:solidFill>
                <a:latin typeface="Source Sans 3" pitchFamily="34" charset="0"/>
                <a:ea typeface="Source Sans 3" pitchFamily="34" charset="-122"/>
                <a:cs typeface="Source Sans 3" pitchFamily="34" charset="-120"/>
              </a:rPr>
              <a:t>Le chiffre que la phase 0 mesure en premier</a:t>
            </a:r>
            <a:endParaRPr lang="en-US" sz="1200" dirty="0"/>
          </a:p>
        </p:txBody>
      </p:sp>
      <p:sp>
        <p:nvSpPr>
          <p:cNvPr id="24" name="Text 21"/>
          <p:cNvSpPr/>
          <p:nvPr/>
        </p:nvSpPr>
        <p:spPr>
          <a:xfrm>
            <a:off x="5241603" y="5091884"/>
            <a:ext cx="6164864" cy="665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54A"/>
                </a:solidFill>
                <a:latin typeface="Source Sans 3" pitchFamily="34" charset="0"/>
                <a:ea typeface="Source Sans 3" pitchFamily="34" charset="-122"/>
                <a:cs typeface="Source Sans 3" pitchFamily="34" charset="-120"/>
              </a:rPr>
              <a:t>La part de logements loués en direct chez les cabinets. Au moins 20 %, la plage « cabinets » est confirmée ; en dessous, les écoles et les propriétaires de meublés deviennent la plage principale. Extension ensuite : autres villes universitaires et régions de relocation.</a:t>
            </a:r>
            <a:endParaRPr lang="en-US" sz="1200" dirty="0"/>
          </a:p>
        </p:txBody>
      </p:sp>
      <p:sp>
        <p:nvSpPr>
          <p:cNvPr id="25" name="Text 22"/>
          <p:cNvSpPr/>
          <p:nvPr/>
        </p:nvSpPr>
        <p:spPr>
          <a:xfrm>
            <a:off x="812720" y="6238278"/>
            <a:ext cx="10883342"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B"/>
                </a:solidFill>
                <a:latin typeface="Source Sans 3" pitchFamily="34" charset="0"/>
                <a:ea typeface="Source Sans 3" pitchFamily="34" charset="-122"/>
                <a:cs typeface="Source Sans 3" pitchFamily="34" charset="-120"/>
              </a:rPr>
              <a:t>Sources : étude de marché expatriés V4.1 · plan GTM v4.1 §2 · 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BEAF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20" y="812719"/>
            <a:ext cx="10883529" cy="885128"/>
          </a:xfrm>
          <a:prstGeom prst="rect">
            <a:avLst/>
          </a:prstGeom>
          <a:noFill/>
          <a:ln/>
        </p:spPr>
        <p:txBody>
          <a:bodyPr wrap="square" lIns="0" tIns="0" rIns="0" bIns="0" rtlCol="0" anchor="t">
            <a:normAutofit/>
          </a:bodyPr>
          <a:lstStyle/>
          <a:p>
            <a:pPr marL="0" indent="0" algn="l">
              <a:lnSpc>
                <a:spcPts val="3377"/>
              </a:lnSpc>
              <a:buNone/>
            </a:pPr>
            <a:r>
              <a:rPr lang="en-US" sz="3070" b="1" i="0" dirty="0">
                <a:solidFill>
                  <a:srgbClr val="033A70"/>
                </a:solidFill>
                <a:latin typeface="Source Sans 3" pitchFamily="34" charset="0"/>
                <a:ea typeface="Source Sans 3" pitchFamily="34" charset="-122"/>
                <a:cs typeface="Source Sans 3" pitchFamily="34" charset="-120"/>
              </a:rPr>
              <a:t>L’innovation : le locataire capture, le propriétaire valide à distance, la plateforme certifie</a:t>
            </a:r>
            <a:endParaRPr lang="en-US" sz="3070" dirty="0"/>
          </a:p>
        </p:txBody>
      </p:sp>
      <p:sp>
        <p:nvSpPr>
          <p:cNvPr id="3" name="Shape 1"/>
          <p:cNvSpPr/>
          <p:nvPr/>
        </p:nvSpPr>
        <p:spPr>
          <a:xfrm>
            <a:off x="812720" y="1850244"/>
            <a:ext cx="1549448" cy="2712326"/>
          </a:xfrm>
          <a:prstGeom prst="rect">
            <a:avLst/>
          </a:prstGeom>
          <a:solidFill>
            <a:srgbClr val="F6F8FB"/>
          </a:solidFill>
          <a:ln/>
        </p:spPr>
      </p:sp>
      <p:sp>
        <p:nvSpPr>
          <p:cNvPr id="4" name="Shape 2"/>
          <p:cNvSpPr/>
          <p:nvPr/>
        </p:nvSpPr>
        <p:spPr>
          <a:xfrm>
            <a:off x="812720" y="1866119"/>
            <a:ext cx="1549448" cy="0"/>
          </a:xfrm>
          <a:prstGeom prst="line">
            <a:avLst/>
          </a:prstGeom>
          <a:noFill/>
          <a:ln w="31750">
            <a:solidFill>
              <a:srgbClr val="033A70"/>
            </a:solidFill>
            <a:prstDash val="solid"/>
          </a:ln>
        </p:spPr>
      </p:sp>
      <p:pic>
        <p:nvPicPr>
          <p:cNvPr id="5" name="Image 0" descr="Home"/>
          <p:cNvPicPr>
            <a:picLocks noChangeAspect="1"/>
          </p:cNvPicPr>
          <p:nvPr/>
        </p:nvPicPr>
        <p:blipFill>
          <a:blip r:embed="rId3"/>
          <a:srcRect/>
          <a:stretch/>
        </p:blipFill>
        <p:spPr>
          <a:xfrm>
            <a:off x="965065" y="2031574"/>
            <a:ext cx="279330" cy="279330"/>
          </a:xfrm>
          <a:prstGeom prst="rect">
            <a:avLst/>
          </a:prstGeom>
        </p:spPr>
      </p:pic>
      <p:sp>
        <p:nvSpPr>
          <p:cNvPr id="6" name="Text 3"/>
          <p:cNvSpPr/>
          <p:nvPr/>
        </p:nvSpPr>
        <p:spPr>
          <a:xfrm>
            <a:off x="965065" y="2374395"/>
            <a:ext cx="1295557" cy="452003"/>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Le propriétaire achète et invite</a:t>
            </a:r>
            <a:endParaRPr lang="en-US" sz="1400" dirty="0"/>
          </a:p>
        </p:txBody>
      </p:sp>
      <p:sp>
        <p:nvSpPr>
          <p:cNvPr id="7" name="Text 4"/>
          <p:cNvSpPr/>
          <p:nvPr/>
        </p:nvSpPr>
        <p:spPr>
          <a:xfrm>
            <a:off x="965065" y="2864490"/>
            <a:ext cx="1295557" cy="1054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2354A"/>
                </a:solidFill>
                <a:latin typeface="Source Sans 3" pitchFamily="34" charset="0"/>
                <a:ea typeface="Source Sans 3" pitchFamily="34" charset="-122"/>
                <a:cs typeface="Source Sans 3" pitchFamily="34" charset="-120"/>
              </a:rPr>
              <a:t>Compte bailleur, pack payé à l’acte, invitation sécurisée du locataire. Il reste à distance.</a:t>
            </a:r>
            <a:endParaRPr lang="en-US" sz="1200" dirty="0"/>
          </a:p>
        </p:txBody>
      </p:sp>
      <p:pic>
        <p:nvPicPr>
          <p:cNvPr id="8" name="Image 1" descr="connector"/>
          <p:cNvPicPr>
            <a:picLocks noChangeAspect="1"/>
          </p:cNvPicPr>
          <p:nvPr/>
        </p:nvPicPr>
        <p:blipFill>
          <a:blip r:embed="rId4"/>
          <a:srcRect l="-27" r="-27"/>
          <a:stretch/>
        </p:blipFill>
        <p:spPr>
          <a:xfrm>
            <a:off x="2362167" y="3155595"/>
            <a:ext cx="253969" cy="101533"/>
          </a:xfrm>
          <a:prstGeom prst="rect">
            <a:avLst/>
          </a:prstGeom>
        </p:spPr>
      </p:pic>
      <p:sp>
        <p:nvSpPr>
          <p:cNvPr id="9" name="Shape 5"/>
          <p:cNvSpPr/>
          <p:nvPr/>
        </p:nvSpPr>
        <p:spPr>
          <a:xfrm>
            <a:off x="2616137" y="1850244"/>
            <a:ext cx="1549448" cy="2712326"/>
          </a:xfrm>
          <a:prstGeom prst="rect">
            <a:avLst/>
          </a:prstGeom>
          <a:solidFill>
            <a:srgbClr val="F6F8FB"/>
          </a:solidFill>
          <a:ln/>
        </p:spPr>
      </p:sp>
      <p:sp>
        <p:nvSpPr>
          <p:cNvPr id="10" name="Shape 6"/>
          <p:cNvSpPr/>
          <p:nvPr/>
        </p:nvSpPr>
        <p:spPr>
          <a:xfrm>
            <a:off x="2616137" y="1866119"/>
            <a:ext cx="1549448" cy="0"/>
          </a:xfrm>
          <a:prstGeom prst="line">
            <a:avLst/>
          </a:prstGeom>
          <a:noFill/>
          <a:ln w="31750">
            <a:solidFill>
              <a:srgbClr val="033A70"/>
            </a:solidFill>
            <a:prstDash val="solid"/>
          </a:ln>
        </p:spPr>
      </p:sp>
      <p:pic>
        <p:nvPicPr>
          <p:cNvPr id="11" name="Image 2" descr="Globe"/>
          <p:cNvPicPr>
            <a:picLocks noChangeAspect="1"/>
          </p:cNvPicPr>
          <p:nvPr/>
        </p:nvPicPr>
        <p:blipFill>
          <a:blip r:embed="rId5"/>
          <a:srcRect/>
          <a:stretch/>
        </p:blipFill>
        <p:spPr>
          <a:xfrm>
            <a:off x="2768482" y="2031574"/>
            <a:ext cx="279330" cy="279330"/>
          </a:xfrm>
          <a:prstGeom prst="rect">
            <a:avLst/>
          </a:prstGeom>
        </p:spPr>
      </p:pic>
      <p:sp>
        <p:nvSpPr>
          <p:cNvPr id="12" name="Text 7"/>
          <p:cNvSpPr/>
          <p:nvPr/>
        </p:nvSpPr>
        <p:spPr>
          <a:xfrm>
            <a:off x="2768482" y="2374395"/>
            <a:ext cx="1295557" cy="452003"/>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Le locataire capture, guidé</a:t>
            </a:r>
            <a:endParaRPr lang="en-US" sz="1400" dirty="0"/>
          </a:p>
        </p:txBody>
      </p:sp>
      <p:sp>
        <p:nvSpPr>
          <p:cNvPr id="13" name="Text 8"/>
          <p:cNvSpPr/>
          <p:nvPr/>
        </p:nvSpPr>
        <p:spPr>
          <a:xfrm>
            <a:off x="2768482" y="2864490"/>
            <a:ext cx="1295557" cy="146588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2354A"/>
                </a:solidFill>
                <a:latin typeface="Source Sans 3" pitchFamily="34" charset="0"/>
                <a:ea typeface="Source Sans 3" pitchFamily="34" charset="-122"/>
                <a:cs typeface="Source Sans 3" pitchFamily="34" charset="-120"/>
              </a:rPr>
              <a:t>Pièce par pièce : photos, vidéos courtes, compteurs, clés, réserves. Dans sa langue, sans rien payer.</a:t>
            </a:r>
            <a:endParaRPr lang="en-US" sz="1200" dirty="0"/>
          </a:p>
        </p:txBody>
      </p:sp>
      <p:pic>
        <p:nvPicPr>
          <p:cNvPr id="14" name="Image 3" descr="connector"/>
          <p:cNvPicPr>
            <a:picLocks noChangeAspect="1"/>
          </p:cNvPicPr>
          <p:nvPr/>
        </p:nvPicPr>
        <p:blipFill>
          <a:blip r:embed="rId4"/>
          <a:srcRect l="-27" r="-27"/>
          <a:stretch/>
        </p:blipFill>
        <p:spPr>
          <a:xfrm>
            <a:off x="4165584" y="3155595"/>
            <a:ext cx="253969" cy="101533"/>
          </a:xfrm>
          <a:prstGeom prst="rect">
            <a:avLst/>
          </a:prstGeom>
        </p:spPr>
      </p:pic>
      <p:sp>
        <p:nvSpPr>
          <p:cNvPr id="15" name="Shape 9"/>
          <p:cNvSpPr/>
          <p:nvPr/>
        </p:nvSpPr>
        <p:spPr>
          <a:xfrm>
            <a:off x="4419554" y="1850244"/>
            <a:ext cx="1549448" cy="2712326"/>
          </a:xfrm>
          <a:prstGeom prst="rect">
            <a:avLst/>
          </a:prstGeom>
          <a:solidFill>
            <a:srgbClr val="F6F8FB"/>
          </a:solidFill>
          <a:ln/>
        </p:spPr>
      </p:sp>
      <p:sp>
        <p:nvSpPr>
          <p:cNvPr id="16" name="Shape 10"/>
          <p:cNvSpPr/>
          <p:nvPr/>
        </p:nvSpPr>
        <p:spPr>
          <a:xfrm>
            <a:off x="4419554" y="1866119"/>
            <a:ext cx="1549448" cy="0"/>
          </a:xfrm>
          <a:prstGeom prst="line">
            <a:avLst/>
          </a:prstGeom>
          <a:noFill/>
          <a:ln w="31750">
            <a:solidFill>
              <a:srgbClr val="0380A5"/>
            </a:solidFill>
            <a:prstDash val="solid"/>
          </a:ln>
        </p:spPr>
      </p:sp>
      <p:pic>
        <p:nvPicPr>
          <p:cNvPr id="17" name="Image 4" descr="Lock"/>
          <p:cNvPicPr>
            <a:picLocks noChangeAspect="1"/>
          </p:cNvPicPr>
          <p:nvPr/>
        </p:nvPicPr>
        <p:blipFill>
          <a:blip r:embed="rId6"/>
          <a:srcRect/>
          <a:stretch/>
        </p:blipFill>
        <p:spPr>
          <a:xfrm>
            <a:off x="4571899" y="2031574"/>
            <a:ext cx="279330" cy="279330"/>
          </a:xfrm>
          <a:prstGeom prst="rect">
            <a:avLst/>
          </a:prstGeom>
        </p:spPr>
      </p:pic>
      <p:sp>
        <p:nvSpPr>
          <p:cNvPr id="18" name="Text 11"/>
          <p:cNvSpPr/>
          <p:nvPr/>
        </p:nvSpPr>
        <p:spPr>
          <a:xfrm>
            <a:off x="4571899" y="2374395"/>
            <a:ext cx="1295557" cy="452003"/>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La plateforme scelle la preuve</a:t>
            </a:r>
            <a:endParaRPr lang="en-US" sz="1400" dirty="0"/>
          </a:p>
        </p:txBody>
      </p:sp>
      <p:sp>
        <p:nvSpPr>
          <p:cNvPr id="19" name="Text 12"/>
          <p:cNvSpPr/>
          <p:nvPr/>
        </p:nvSpPr>
        <p:spPr>
          <a:xfrm>
            <a:off x="4571899" y="2864490"/>
            <a:ext cx="1295557" cy="1054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2354A"/>
                </a:solidFill>
                <a:latin typeface="Source Sans 3" pitchFamily="34" charset="0"/>
                <a:ea typeface="Source Sans 3" pitchFamily="34" charset="-122"/>
                <a:cs typeface="Source Sans 3" pitchFamily="34" charset="-120"/>
              </a:rPr>
              <a:t>Empreinte serveur, horodatage, inventaire meublé, coffre-fort chiffré hébergé en Europe.</a:t>
            </a:r>
            <a:endParaRPr lang="en-US" sz="1200" dirty="0"/>
          </a:p>
        </p:txBody>
      </p:sp>
      <p:pic>
        <p:nvPicPr>
          <p:cNvPr id="20" name="Image 5" descr="connector"/>
          <p:cNvPicPr>
            <a:picLocks noChangeAspect="1"/>
          </p:cNvPicPr>
          <p:nvPr/>
        </p:nvPicPr>
        <p:blipFill>
          <a:blip r:embed="rId4"/>
          <a:srcRect l="-27" r="-27"/>
          <a:stretch/>
        </p:blipFill>
        <p:spPr>
          <a:xfrm>
            <a:off x="5969002" y="3155595"/>
            <a:ext cx="253969" cy="101533"/>
          </a:xfrm>
          <a:prstGeom prst="rect">
            <a:avLst/>
          </a:prstGeom>
        </p:spPr>
      </p:pic>
      <p:sp>
        <p:nvSpPr>
          <p:cNvPr id="21" name="Shape 13"/>
          <p:cNvSpPr/>
          <p:nvPr/>
        </p:nvSpPr>
        <p:spPr>
          <a:xfrm>
            <a:off x="6222971" y="1850244"/>
            <a:ext cx="1549448" cy="2712326"/>
          </a:xfrm>
          <a:prstGeom prst="rect">
            <a:avLst/>
          </a:prstGeom>
          <a:solidFill>
            <a:srgbClr val="F6F8FB"/>
          </a:solidFill>
          <a:ln/>
        </p:spPr>
      </p:sp>
      <p:sp>
        <p:nvSpPr>
          <p:cNvPr id="22" name="Shape 14"/>
          <p:cNvSpPr/>
          <p:nvPr/>
        </p:nvSpPr>
        <p:spPr>
          <a:xfrm>
            <a:off x="6222971" y="1866119"/>
            <a:ext cx="1549448" cy="0"/>
          </a:xfrm>
          <a:prstGeom prst="line">
            <a:avLst/>
          </a:prstGeom>
          <a:noFill/>
          <a:ln w="31750">
            <a:solidFill>
              <a:srgbClr val="0380A5"/>
            </a:solidFill>
            <a:prstDash val="solid"/>
          </a:ln>
        </p:spPr>
      </p:sp>
      <p:pic>
        <p:nvPicPr>
          <p:cNvPr id="23" name="Image 6" descr="Search"/>
          <p:cNvPicPr>
            <a:picLocks noChangeAspect="1"/>
          </p:cNvPicPr>
          <p:nvPr/>
        </p:nvPicPr>
        <p:blipFill>
          <a:blip r:embed="rId7"/>
          <a:srcRect/>
          <a:stretch/>
        </p:blipFill>
        <p:spPr>
          <a:xfrm>
            <a:off x="6375316" y="2031574"/>
            <a:ext cx="279330" cy="279330"/>
          </a:xfrm>
          <a:prstGeom prst="rect">
            <a:avLst/>
          </a:prstGeom>
        </p:spPr>
      </p:pic>
      <p:sp>
        <p:nvSpPr>
          <p:cNvPr id="24" name="Text 15"/>
          <p:cNvSpPr/>
          <p:nvPr/>
        </p:nvSpPr>
        <p:spPr>
          <a:xfrm>
            <a:off x="6375316" y="2374395"/>
            <a:ext cx="1295557" cy="452003"/>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L’IA assiste, ne décide pas</a:t>
            </a:r>
            <a:endParaRPr lang="en-US" sz="1400" dirty="0"/>
          </a:p>
        </p:txBody>
      </p:sp>
      <p:sp>
        <p:nvSpPr>
          <p:cNvPr id="25" name="Text 16"/>
          <p:cNvSpPr/>
          <p:nvPr/>
        </p:nvSpPr>
        <p:spPr>
          <a:xfrm>
            <a:off x="6375316" y="2864490"/>
            <a:ext cx="1295557" cy="146588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2354A"/>
                </a:solidFill>
                <a:latin typeface="Source Sans 3" pitchFamily="34" charset="0"/>
                <a:ea typeface="Source Sans 3" pitchFamily="34" charset="-122"/>
                <a:cs typeface="Source Sans 3" pitchFamily="34" charset="-120"/>
              </a:rPr>
              <a:t>Usure, dégradation possible, préexistant ou indéterminé : des signaux expliqués, jamais une retenue.</a:t>
            </a:r>
            <a:endParaRPr lang="en-US" sz="1200" dirty="0"/>
          </a:p>
        </p:txBody>
      </p:sp>
      <p:pic>
        <p:nvPicPr>
          <p:cNvPr id="26" name="Image 7" descr="connector"/>
          <p:cNvPicPr>
            <a:picLocks noChangeAspect="1"/>
          </p:cNvPicPr>
          <p:nvPr/>
        </p:nvPicPr>
        <p:blipFill>
          <a:blip r:embed="rId4"/>
          <a:srcRect l="-27" r="-27"/>
          <a:stretch/>
        </p:blipFill>
        <p:spPr>
          <a:xfrm>
            <a:off x="7772419" y="3155595"/>
            <a:ext cx="253969" cy="101533"/>
          </a:xfrm>
          <a:prstGeom prst="rect">
            <a:avLst/>
          </a:prstGeom>
        </p:spPr>
      </p:pic>
      <p:sp>
        <p:nvSpPr>
          <p:cNvPr id="27" name="Shape 17"/>
          <p:cNvSpPr/>
          <p:nvPr/>
        </p:nvSpPr>
        <p:spPr>
          <a:xfrm>
            <a:off x="8026388" y="1850244"/>
            <a:ext cx="1549448" cy="2712326"/>
          </a:xfrm>
          <a:prstGeom prst="rect">
            <a:avLst/>
          </a:prstGeom>
          <a:solidFill>
            <a:srgbClr val="F6F8FB"/>
          </a:solidFill>
          <a:ln/>
        </p:spPr>
      </p:sp>
      <p:sp>
        <p:nvSpPr>
          <p:cNvPr id="28" name="Shape 18"/>
          <p:cNvSpPr/>
          <p:nvPr/>
        </p:nvSpPr>
        <p:spPr>
          <a:xfrm>
            <a:off x="8026388" y="1866119"/>
            <a:ext cx="1549448" cy="0"/>
          </a:xfrm>
          <a:prstGeom prst="line">
            <a:avLst/>
          </a:prstGeom>
          <a:noFill/>
          <a:ln w="31750">
            <a:solidFill>
              <a:srgbClr val="033A70"/>
            </a:solidFill>
            <a:prstDash val="solid"/>
          </a:ln>
        </p:spPr>
      </p:sp>
      <p:pic>
        <p:nvPicPr>
          <p:cNvPr id="29" name="Image 8" descr="Verified"/>
          <p:cNvPicPr>
            <a:picLocks noChangeAspect="1"/>
          </p:cNvPicPr>
          <p:nvPr/>
        </p:nvPicPr>
        <p:blipFill>
          <a:blip r:embed="rId8"/>
          <a:srcRect l="-14" r="-14"/>
          <a:stretch/>
        </p:blipFill>
        <p:spPr>
          <a:xfrm>
            <a:off x="8178733" y="2031574"/>
            <a:ext cx="279330" cy="266559"/>
          </a:xfrm>
          <a:prstGeom prst="rect">
            <a:avLst/>
          </a:prstGeom>
        </p:spPr>
      </p:pic>
      <p:sp>
        <p:nvSpPr>
          <p:cNvPr id="30" name="Text 19"/>
          <p:cNvSpPr/>
          <p:nvPr/>
        </p:nvSpPr>
        <p:spPr>
          <a:xfrm>
            <a:off x="8178733" y="2361625"/>
            <a:ext cx="1295557" cy="635959"/>
          </a:xfrm>
          <a:prstGeom prst="rect">
            <a:avLst/>
          </a:prstGeom>
          <a:noFill/>
          <a:ln/>
        </p:spPr>
        <p:txBody>
          <a:bodyPr wrap="square" lIns="0" tIns="0" rIns="0" bIns="0" rtlCol="0" anchor="t">
            <a:normAutofit/>
          </a:bodyPr>
          <a:lstStyle/>
          <a:p>
            <a:pPr marL="0" indent="0" algn="l">
              <a:lnSpc>
                <a:spcPts val="1606"/>
              </a:lnSpc>
              <a:buNone/>
            </a:pPr>
            <a:r>
              <a:rPr lang="en-US" sz="1339" b="1" dirty="0">
                <a:solidFill>
                  <a:srgbClr val="033A70"/>
                </a:solidFill>
                <a:latin typeface="Source Sans 3" pitchFamily="34" charset="0"/>
                <a:ea typeface="Source Sans 3" pitchFamily="34" charset="-122"/>
                <a:cs typeface="Source Sans 3" pitchFamily="34" charset="-120"/>
              </a:rPr>
              <a:t>Les deux parties valident et signent</a:t>
            </a:r>
            <a:endParaRPr lang="en-US" sz="1339" dirty="0"/>
          </a:p>
        </p:txBody>
      </p:sp>
      <p:sp>
        <p:nvSpPr>
          <p:cNvPr id="31" name="Text 20"/>
          <p:cNvSpPr/>
          <p:nvPr/>
        </p:nvSpPr>
        <p:spPr>
          <a:xfrm>
            <a:off x="8178733" y="3035675"/>
            <a:ext cx="1295557" cy="1399950"/>
          </a:xfrm>
          <a:prstGeom prst="rect">
            <a:avLst/>
          </a:prstGeom>
          <a:noFill/>
          <a:ln/>
        </p:spPr>
        <p:txBody>
          <a:bodyPr wrap="square" lIns="0" tIns="0" rIns="0" bIns="0" rtlCol="0" anchor="t">
            <a:normAutofit/>
          </a:bodyPr>
          <a:lstStyle/>
          <a:p>
            <a:pPr marL="0" indent="0" algn="l">
              <a:lnSpc>
                <a:spcPts val="1544"/>
              </a:lnSpc>
              <a:buNone/>
            </a:pPr>
            <a:r>
              <a:rPr lang="en-US" sz="1144" dirty="0">
                <a:solidFill>
                  <a:srgbClr val="22354A"/>
                </a:solidFill>
                <a:latin typeface="Source Sans 3" pitchFamily="34" charset="0"/>
                <a:ea typeface="Source Sans 3" pitchFamily="34" charset="-122"/>
                <a:cs typeface="Source Sans 3" pitchFamily="34" charset="-120"/>
              </a:rPr>
              <a:t>Réserves du propriétaire à distance, relecture du locataire, signature avancée, exemplaire remis à chacun.</a:t>
            </a:r>
            <a:endParaRPr lang="en-US" sz="1144" dirty="0"/>
          </a:p>
        </p:txBody>
      </p:sp>
      <p:pic>
        <p:nvPicPr>
          <p:cNvPr id="32" name="Image 9" descr="connector"/>
          <p:cNvPicPr>
            <a:picLocks noChangeAspect="1"/>
          </p:cNvPicPr>
          <p:nvPr/>
        </p:nvPicPr>
        <p:blipFill>
          <a:blip r:embed="rId4"/>
          <a:srcRect l="-27" r="-27"/>
          <a:stretch/>
        </p:blipFill>
        <p:spPr>
          <a:xfrm>
            <a:off x="9575836" y="3155595"/>
            <a:ext cx="253969" cy="101533"/>
          </a:xfrm>
          <a:prstGeom prst="rect">
            <a:avLst/>
          </a:prstGeom>
        </p:spPr>
      </p:pic>
      <p:sp>
        <p:nvSpPr>
          <p:cNvPr id="33" name="Shape 21"/>
          <p:cNvSpPr/>
          <p:nvPr/>
        </p:nvSpPr>
        <p:spPr>
          <a:xfrm>
            <a:off x="9829805" y="1850244"/>
            <a:ext cx="1549448" cy="2712326"/>
          </a:xfrm>
          <a:prstGeom prst="rect">
            <a:avLst/>
          </a:prstGeom>
          <a:solidFill>
            <a:srgbClr val="F6F8FB"/>
          </a:solidFill>
          <a:ln/>
        </p:spPr>
      </p:sp>
      <p:sp>
        <p:nvSpPr>
          <p:cNvPr id="34" name="Shape 22"/>
          <p:cNvSpPr/>
          <p:nvPr/>
        </p:nvSpPr>
        <p:spPr>
          <a:xfrm>
            <a:off x="9829805" y="1866119"/>
            <a:ext cx="1549448" cy="0"/>
          </a:xfrm>
          <a:prstGeom prst="line">
            <a:avLst/>
          </a:prstGeom>
          <a:noFill/>
          <a:ln w="31750">
            <a:solidFill>
              <a:srgbClr val="033A70"/>
            </a:solidFill>
            <a:prstDash val="solid"/>
          </a:ln>
        </p:spPr>
      </p:sp>
      <p:pic>
        <p:nvPicPr>
          <p:cNvPr id="35" name="Image 10" descr="Clock"/>
          <p:cNvPicPr>
            <a:picLocks noChangeAspect="1"/>
          </p:cNvPicPr>
          <p:nvPr/>
        </p:nvPicPr>
        <p:blipFill>
          <a:blip r:embed="rId9"/>
          <a:srcRect l="-14" r="-14"/>
          <a:stretch/>
        </p:blipFill>
        <p:spPr>
          <a:xfrm>
            <a:off x="9982150" y="2031574"/>
            <a:ext cx="279330" cy="266559"/>
          </a:xfrm>
          <a:prstGeom prst="rect">
            <a:avLst/>
          </a:prstGeom>
        </p:spPr>
      </p:pic>
      <p:sp>
        <p:nvSpPr>
          <p:cNvPr id="36" name="Text 23"/>
          <p:cNvSpPr/>
          <p:nvPr/>
        </p:nvSpPr>
        <p:spPr>
          <a:xfrm>
            <a:off x="9982150" y="2361625"/>
            <a:ext cx="1295557" cy="635959"/>
          </a:xfrm>
          <a:prstGeom prst="rect">
            <a:avLst/>
          </a:prstGeom>
          <a:noFill/>
          <a:ln/>
        </p:spPr>
        <p:txBody>
          <a:bodyPr wrap="square" lIns="0" tIns="0" rIns="0" bIns="0" rtlCol="0" anchor="t">
            <a:normAutofit/>
          </a:bodyPr>
          <a:lstStyle/>
          <a:p>
            <a:pPr marL="0" indent="0" algn="l">
              <a:lnSpc>
                <a:spcPts val="1606"/>
              </a:lnSpc>
              <a:buNone/>
            </a:pPr>
            <a:r>
              <a:rPr lang="en-US" sz="1339" b="1" dirty="0">
                <a:solidFill>
                  <a:srgbClr val="033A70"/>
                </a:solidFill>
                <a:latin typeface="Source Sans 3" pitchFamily="34" charset="0"/>
                <a:ea typeface="Source Sans 3" pitchFamily="34" charset="-122"/>
                <a:cs typeface="Source Sans 3" pitchFamily="34" charset="-120"/>
              </a:rPr>
              <a:t>La sortie se compare à l’entrée</a:t>
            </a:r>
            <a:endParaRPr lang="en-US" sz="1339" dirty="0"/>
          </a:p>
        </p:txBody>
      </p:sp>
      <p:sp>
        <p:nvSpPr>
          <p:cNvPr id="37" name="Text 24"/>
          <p:cNvSpPr/>
          <p:nvPr/>
        </p:nvSpPr>
        <p:spPr>
          <a:xfrm>
            <a:off x="9982150" y="3035675"/>
            <a:ext cx="1295557" cy="1399950"/>
          </a:xfrm>
          <a:prstGeom prst="rect">
            <a:avLst/>
          </a:prstGeom>
          <a:noFill/>
          <a:ln/>
        </p:spPr>
        <p:txBody>
          <a:bodyPr wrap="square" lIns="0" tIns="0" rIns="0" bIns="0" rtlCol="0" anchor="t">
            <a:normAutofit/>
          </a:bodyPr>
          <a:lstStyle/>
          <a:p>
            <a:pPr marL="0" indent="0" algn="l">
              <a:lnSpc>
                <a:spcPts val="1544"/>
              </a:lnSpc>
              <a:buNone/>
            </a:pPr>
            <a:r>
              <a:rPr lang="en-US" sz="1144" dirty="0">
                <a:solidFill>
                  <a:srgbClr val="22354A"/>
                </a:solidFill>
                <a:latin typeface="Source Sans 3" pitchFamily="34" charset="0"/>
                <a:ea typeface="Source Sans 3" pitchFamily="34" charset="-122"/>
                <a:cs typeface="Source Sans 3" pitchFamily="34" charset="-120"/>
              </a:rPr>
              <a:t>PDF bilingue, calendrier de restitution, comparaison entrée et sortie sur une grille de vétusté convenue.</a:t>
            </a:r>
            <a:endParaRPr lang="en-US" sz="1144" dirty="0"/>
          </a:p>
        </p:txBody>
      </p:sp>
      <p:sp>
        <p:nvSpPr>
          <p:cNvPr id="38" name="Shape 25"/>
          <p:cNvSpPr/>
          <p:nvPr/>
        </p:nvSpPr>
        <p:spPr>
          <a:xfrm>
            <a:off x="812720" y="4740366"/>
            <a:ext cx="3432208" cy="1101650"/>
          </a:xfrm>
          <a:prstGeom prst="rect">
            <a:avLst/>
          </a:prstGeom>
          <a:solidFill>
            <a:srgbClr val="F6F8FB"/>
          </a:solidFill>
          <a:ln/>
        </p:spPr>
      </p:sp>
      <p:sp>
        <p:nvSpPr>
          <p:cNvPr id="39" name="Shape 26"/>
          <p:cNvSpPr/>
          <p:nvPr/>
        </p:nvSpPr>
        <p:spPr>
          <a:xfrm>
            <a:off x="831770" y="4740366"/>
            <a:ext cx="0" cy="1101650"/>
          </a:xfrm>
          <a:prstGeom prst="line">
            <a:avLst/>
          </a:prstGeom>
          <a:noFill/>
          <a:ln w="38100">
            <a:solidFill>
              <a:srgbClr val="033A70"/>
            </a:solidFill>
            <a:prstDash val="solid"/>
          </a:ln>
        </p:spPr>
      </p:sp>
      <p:sp>
        <p:nvSpPr>
          <p:cNvPr id="40" name="Text 27"/>
          <p:cNvSpPr/>
          <p:nvPr/>
        </p:nvSpPr>
        <p:spPr>
          <a:xfrm>
            <a:off x="999845" y="4867351"/>
            <a:ext cx="3185519" cy="227833"/>
          </a:xfrm>
          <a:prstGeom prst="rect">
            <a:avLst/>
          </a:prstGeom>
          <a:noFill/>
          <a:ln/>
        </p:spPr>
        <p:txBody>
          <a:bodyPr wrap="square" lIns="0" tIns="0" rIns="0" bIns="0" rtlCol="0" anchor="t">
            <a:normAutofit/>
          </a:bodyPr>
          <a:lstStyle/>
          <a:p>
            <a:pPr marL="0" indent="0" algn="l">
              <a:lnSpc>
                <a:spcPts val="1622"/>
              </a:lnSpc>
              <a:buNone/>
            </a:pPr>
            <a:r>
              <a:rPr lang="en-US" sz="1159" b="1" dirty="0">
                <a:solidFill>
                  <a:srgbClr val="033A70"/>
                </a:solidFill>
                <a:latin typeface="Source Sans 3" pitchFamily="34" charset="0"/>
                <a:ea typeface="Source Sans 3" pitchFamily="34" charset="-122"/>
                <a:cs typeface="Source Sans 3" pitchFamily="34" charset="-120"/>
              </a:rPr>
              <a:t>Ce que l’IA ne fait jamais</a:t>
            </a:r>
            <a:endParaRPr lang="en-US" sz="1159" dirty="0"/>
          </a:p>
        </p:txBody>
      </p:sp>
      <p:sp>
        <p:nvSpPr>
          <p:cNvPr id="41" name="Text 28"/>
          <p:cNvSpPr/>
          <p:nvPr/>
        </p:nvSpPr>
        <p:spPr>
          <a:xfrm>
            <a:off x="999845" y="5107825"/>
            <a:ext cx="3185519" cy="632607"/>
          </a:xfrm>
          <a:prstGeom prst="rect">
            <a:avLst/>
          </a:prstGeom>
          <a:noFill/>
          <a:ln/>
        </p:spPr>
        <p:txBody>
          <a:bodyPr wrap="square" lIns="0" tIns="0" rIns="0" bIns="0" rtlCol="0" anchor="t">
            <a:normAutofit/>
          </a:bodyPr>
          <a:lstStyle/>
          <a:p>
            <a:pPr marL="0" indent="0" algn="l">
              <a:lnSpc>
                <a:spcPts val="1606"/>
              </a:lnSpc>
              <a:buNone/>
            </a:pPr>
            <a:r>
              <a:rPr lang="en-US" sz="1148" dirty="0">
                <a:solidFill>
                  <a:srgbClr val="22354A"/>
                </a:solidFill>
                <a:latin typeface="Source Sans 3" pitchFamily="34" charset="0"/>
                <a:ea typeface="Source Sans 3" pitchFamily="34" charset="-122"/>
                <a:cs typeface="Source Sans 3" pitchFamily="34" charset="-120"/>
              </a:rPr>
              <a:t>Certifier l’authenticité d’une pièce, choisir le locataire, noter une personne, inventer une clause de bail.</a:t>
            </a:r>
            <a:endParaRPr lang="en-US" sz="1148" dirty="0"/>
          </a:p>
        </p:txBody>
      </p:sp>
      <p:sp>
        <p:nvSpPr>
          <p:cNvPr id="42" name="Shape 29"/>
          <p:cNvSpPr/>
          <p:nvPr/>
        </p:nvSpPr>
        <p:spPr>
          <a:xfrm>
            <a:off x="4397273" y="4740366"/>
            <a:ext cx="3432208" cy="1101650"/>
          </a:xfrm>
          <a:prstGeom prst="rect">
            <a:avLst/>
          </a:prstGeom>
          <a:solidFill>
            <a:srgbClr val="F6F8FB"/>
          </a:solidFill>
          <a:ln/>
        </p:spPr>
      </p:sp>
      <p:sp>
        <p:nvSpPr>
          <p:cNvPr id="43" name="Shape 30"/>
          <p:cNvSpPr/>
          <p:nvPr/>
        </p:nvSpPr>
        <p:spPr>
          <a:xfrm>
            <a:off x="4416323" y="4740366"/>
            <a:ext cx="0" cy="1101650"/>
          </a:xfrm>
          <a:prstGeom prst="line">
            <a:avLst/>
          </a:prstGeom>
          <a:noFill/>
          <a:ln w="38100">
            <a:solidFill>
              <a:srgbClr val="0380A5"/>
            </a:solidFill>
            <a:prstDash val="solid"/>
          </a:ln>
        </p:spPr>
      </p:sp>
      <p:sp>
        <p:nvSpPr>
          <p:cNvPr id="44" name="Text 31"/>
          <p:cNvSpPr/>
          <p:nvPr/>
        </p:nvSpPr>
        <p:spPr>
          <a:xfrm>
            <a:off x="4584398" y="4867351"/>
            <a:ext cx="3185519" cy="430265"/>
          </a:xfrm>
          <a:prstGeom prst="rect">
            <a:avLst/>
          </a:prstGeom>
          <a:noFill/>
          <a:ln/>
        </p:spPr>
        <p:txBody>
          <a:bodyPr wrap="square" lIns="0" tIns="0" rIns="0" bIns="0" rtlCol="0" anchor="t">
            <a:normAutofit/>
          </a:bodyPr>
          <a:lstStyle/>
          <a:p>
            <a:pPr marL="0" indent="0" algn="l">
              <a:lnSpc>
                <a:spcPts val="1612"/>
              </a:lnSpc>
              <a:buNone/>
            </a:pPr>
            <a:r>
              <a:rPr lang="en-US" sz="1151" b="1" dirty="0">
                <a:solidFill>
                  <a:srgbClr val="033A70"/>
                </a:solidFill>
                <a:latin typeface="Source Sans 3" pitchFamily="34" charset="0"/>
                <a:ea typeface="Source Sans 3" pitchFamily="34" charset="-122"/>
                <a:cs typeface="Source Sans 3" pitchFamily="34" charset="-120"/>
              </a:rPr>
              <a:t>Branché sur les outils publics, pas en concurrence</a:t>
            </a:r>
            <a:endParaRPr lang="en-US" sz="1151" dirty="0"/>
          </a:p>
        </p:txBody>
      </p:sp>
      <p:sp>
        <p:nvSpPr>
          <p:cNvPr id="45" name="Text 32"/>
          <p:cNvSpPr/>
          <p:nvPr/>
        </p:nvSpPr>
        <p:spPr>
          <a:xfrm>
            <a:off x="4584398" y="5310257"/>
            <a:ext cx="3185519" cy="430175"/>
          </a:xfrm>
          <a:prstGeom prst="rect">
            <a:avLst/>
          </a:prstGeom>
          <a:noFill/>
          <a:ln/>
        </p:spPr>
        <p:txBody>
          <a:bodyPr wrap="square" lIns="0" tIns="0" rIns="0" bIns="0" rtlCol="0" anchor="t">
            <a:normAutofit/>
          </a:bodyPr>
          <a:lstStyle/>
          <a:p>
            <a:pPr marL="0" indent="0" algn="l">
              <a:lnSpc>
                <a:spcPts val="1612"/>
              </a:lnSpc>
              <a:buNone/>
            </a:pPr>
            <a:r>
              <a:rPr lang="en-US" sz="1151" dirty="0">
                <a:solidFill>
                  <a:srgbClr val="22354A"/>
                </a:solidFill>
                <a:latin typeface="Source Sans 3" pitchFamily="34" charset="0"/>
                <a:ea typeface="Source Sans 3" pitchFamily="34" charset="-122"/>
                <a:cs typeface="Source Sans 3" pitchFamily="34" charset="-120"/>
              </a:rPr>
              <a:t>Lecture du 2D-Doc des avis d’impôt, renvoi vers SVAIR, acceptation des liens DossierFacile.</a:t>
            </a:r>
            <a:endParaRPr lang="en-US" sz="1151" dirty="0"/>
          </a:p>
        </p:txBody>
      </p:sp>
      <p:sp>
        <p:nvSpPr>
          <p:cNvPr id="46" name="Shape 33"/>
          <p:cNvSpPr/>
          <p:nvPr/>
        </p:nvSpPr>
        <p:spPr>
          <a:xfrm>
            <a:off x="7981826" y="4740366"/>
            <a:ext cx="3397427" cy="1101650"/>
          </a:xfrm>
          <a:prstGeom prst="rect">
            <a:avLst/>
          </a:prstGeom>
          <a:solidFill>
            <a:srgbClr val="033A70"/>
          </a:solidFill>
          <a:ln/>
        </p:spPr>
      </p:sp>
      <p:sp>
        <p:nvSpPr>
          <p:cNvPr id="47" name="Text 34"/>
          <p:cNvSpPr/>
          <p:nvPr/>
        </p:nvSpPr>
        <p:spPr>
          <a:xfrm>
            <a:off x="8134171" y="4867351"/>
            <a:ext cx="3185519" cy="227833"/>
          </a:xfrm>
          <a:prstGeom prst="rect">
            <a:avLst/>
          </a:prstGeom>
          <a:noFill/>
          <a:ln/>
        </p:spPr>
        <p:txBody>
          <a:bodyPr wrap="square" lIns="0" tIns="0" rIns="0" bIns="0" rtlCol="0" anchor="t">
            <a:normAutofit/>
          </a:bodyPr>
          <a:lstStyle/>
          <a:p>
            <a:pPr marL="0" indent="0" algn="l">
              <a:lnSpc>
                <a:spcPts val="1622"/>
              </a:lnSpc>
              <a:buNone/>
            </a:pPr>
            <a:r>
              <a:rPr lang="en-US" sz="1159" b="1" dirty="0">
                <a:solidFill>
                  <a:srgbClr val="F6F8FB"/>
                </a:solidFill>
                <a:latin typeface="Source Sans 3" pitchFamily="34" charset="0"/>
                <a:ea typeface="Source Sans 3" pitchFamily="34" charset="-122"/>
                <a:cs typeface="Source Sans 3" pitchFamily="34" charset="-120"/>
              </a:rPr>
              <a:t>Ce qu’aucun concurrent relevé n’annonce</a:t>
            </a:r>
            <a:endParaRPr lang="en-US" sz="1159" dirty="0"/>
          </a:p>
        </p:txBody>
      </p:sp>
      <p:sp>
        <p:nvSpPr>
          <p:cNvPr id="48" name="Text 35"/>
          <p:cNvSpPr/>
          <p:nvPr/>
        </p:nvSpPr>
        <p:spPr>
          <a:xfrm>
            <a:off x="8134171" y="5107825"/>
            <a:ext cx="3185519" cy="632607"/>
          </a:xfrm>
          <a:prstGeom prst="rect">
            <a:avLst/>
          </a:prstGeom>
          <a:noFill/>
          <a:ln/>
        </p:spPr>
        <p:txBody>
          <a:bodyPr wrap="square" lIns="0" tIns="0" rIns="0" bIns="0" rtlCol="0" anchor="t">
            <a:normAutofit/>
          </a:bodyPr>
          <a:lstStyle/>
          <a:p>
            <a:pPr marL="0" indent="0" algn="l">
              <a:lnSpc>
                <a:spcPts val="1606"/>
              </a:lnSpc>
              <a:buNone/>
            </a:pPr>
            <a:r>
              <a:rPr lang="en-US" sz="1148" dirty="0">
                <a:solidFill>
                  <a:srgbClr val="C9DBEE"/>
                </a:solidFill>
                <a:latin typeface="Source Sans 3" pitchFamily="34" charset="0"/>
                <a:ea typeface="Source Sans 3" pitchFamily="34" charset="-122"/>
                <a:cs typeface="Source Sans 3" pitchFamily="34" charset="-120"/>
              </a:rPr>
              <a:t>Un état des lieux à distance, multilingue, signé par les deux parties, avec vidéo et suivi jusqu’à la restitution.</a:t>
            </a:r>
            <a:endParaRPr lang="en-US" sz="1148" dirty="0"/>
          </a:p>
        </p:txBody>
      </p:sp>
      <p:sp>
        <p:nvSpPr>
          <p:cNvPr id="49" name="Text 36"/>
          <p:cNvSpPr/>
          <p:nvPr/>
        </p:nvSpPr>
        <p:spPr>
          <a:xfrm>
            <a:off x="812720" y="6238278"/>
            <a:ext cx="10883342"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B"/>
                </a:solidFill>
                <a:latin typeface="Source Sans 3" pitchFamily="34" charset="0"/>
                <a:ea typeface="Source Sans 3" pitchFamily="34" charset="-122"/>
                <a:cs typeface="Source Sans 3" pitchFamily="34" charset="-120"/>
              </a:rPr>
              <a:t>Sources : note stratégique §2 et §5 · spécification produit · exigences techniques propriétaires · 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20" y="812719"/>
            <a:ext cx="11379280" cy="681970"/>
          </a:xfrm>
          <a:prstGeom prst="rect">
            <a:avLst/>
          </a:prstGeom>
          <a:noFill/>
          <a:ln/>
        </p:spPr>
        <p:txBody>
          <a:bodyPr wrap="square" lIns="0" tIns="0" rIns="0" bIns="0" rtlCol="0" anchor="t">
            <a:normAutofit/>
          </a:bodyPr>
          <a:lstStyle/>
          <a:p>
            <a:pPr marL="0" indent="0" algn="l">
              <a:lnSpc>
                <a:spcPts val="2794"/>
              </a:lnSpc>
              <a:buNone/>
            </a:pPr>
            <a:r>
              <a:rPr lang="en-US" sz="2540" b="1" i="0" dirty="0">
                <a:solidFill>
                  <a:srgbClr val="033A70"/>
                </a:solidFill>
                <a:latin typeface="Source Sans 3" pitchFamily="34" charset="0"/>
                <a:ea typeface="Source Sans 3" pitchFamily="34" charset="-122"/>
                <a:cs typeface="Source Sans 3" pitchFamily="34" charset="-120"/>
              </a:rPr>
              <a:t>Proposition de valeur : </a:t>
            </a:r>
            <a:r>
              <a:rPr lang="fr-FR" sz="2540" b="1" i="0" dirty="0">
                <a:solidFill>
                  <a:srgbClr val="033A70"/>
                </a:solidFill>
                <a:latin typeface="Source Sans 3" pitchFamily="34" charset="0"/>
                <a:ea typeface="Source Sans 3" pitchFamily="34" charset="-122"/>
                <a:cs typeface="Source Sans 3" pitchFamily="34" charset="-120"/>
              </a:rPr>
              <a:t>combler les déficits de </a:t>
            </a:r>
            <a:r>
              <a:rPr lang="fr-FR" sz="2540" b="1" i="0">
                <a:solidFill>
                  <a:srgbClr val="033A70"/>
                </a:solidFill>
                <a:latin typeface="Source Sans 3" pitchFamily="34" charset="0"/>
                <a:ea typeface="Source Sans 3" pitchFamily="34" charset="-122"/>
                <a:cs typeface="Source Sans 3" pitchFamily="34" charset="-120"/>
              </a:rPr>
              <a:t>l’offre actuelle</a:t>
            </a:r>
            <a:endParaRPr lang="en-US" sz="2540" dirty="0"/>
          </a:p>
        </p:txBody>
      </p:sp>
      <p:pic>
        <p:nvPicPr>
          <p:cNvPr id="3" name="Image 0" descr="Courbe de valeur comparant Tenu, une agence, une application générique et un commissaire de justice sur huit facteurs"/>
          <p:cNvPicPr>
            <a:picLocks noChangeAspect="1"/>
          </p:cNvPicPr>
          <p:nvPr/>
        </p:nvPicPr>
        <p:blipFill>
          <a:blip r:embed="rId3"/>
          <a:srcRect l="-44" r="-44"/>
          <a:stretch/>
        </p:blipFill>
        <p:spPr>
          <a:xfrm>
            <a:off x="812720" y="1596275"/>
            <a:ext cx="10566352" cy="2793933"/>
          </a:xfrm>
          <a:prstGeom prst="rect">
            <a:avLst/>
          </a:prstGeom>
        </p:spPr>
      </p:pic>
      <p:sp>
        <p:nvSpPr>
          <p:cNvPr id="4" name="Text 1"/>
          <p:cNvSpPr/>
          <p:nvPr/>
        </p:nvSpPr>
        <p:spPr>
          <a:xfrm>
            <a:off x="761920" y="1881946"/>
            <a:ext cx="812798" cy="23879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B"/>
                </a:solidFill>
                <a:latin typeface="Source Sans 3" pitchFamily="34" charset="0"/>
                <a:ea typeface="Source Sans 3" pitchFamily="34" charset="-122"/>
                <a:cs typeface="Source Sans 3" pitchFamily="34" charset="-120"/>
              </a:rPr>
              <a:t>Élevé</a:t>
            </a:r>
            <a:endParaRPr lang="en-US" sz="1200" dirty="0"/>
          </a:p>
        </p:txBody>
      </p:sp>
      <p:sp>
        <p:nvSpPr>
          <p:cNvPr id="5" name="Text 2"/>
          <p:cNvSpPr/>
          <p:nvPr/>
        </p:nvSpPr>
        <p:spPr>
          <a:xfrm>
            <a:off x="761920" y="2580450"/>
            <a:ext cx="812798" cy="23879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B"/>
                </a:solidFill>
                <a:latin typeface="Source Sans 3" pitchFamily="34" charset="0"/>
                <a:ea typeface="Source Sans 3" pitchFamily="34" charset="-122"/>
                <a:cs typeface="Source Sans 3" pitchFamily="34" charset="-120"/>
              </a:rPr>
              <a:t>Moyen</a:t>
            </a:r>
            <a:endParaRPr lang="en-US" sz="1200" dirty="0"/>
          </a:p>
        </p:txBody>
      </p:sp>
      <p:sp>
        <p:nvSpPr>
          <p:cNvPr id="6" name="Text 3"/>
          <p:cNvSpPr/>
          <p:nvPr/>
        </p:nvSpPr>
        <p:spPr>
          <a:xfrm>
            <a:off x="761920" y="3278956"/>
            <a:ext cx="812798" cy="23879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B"/>
                </a:solidFill>
                <a:latin typeface="Source Sans 3" pitchFamily="34" charset="0"/>
                <a:ea typeface="Source Sans 3" pitchFamily="34" charset="-122"/>
                <a:cs typeface="Source Sans 3" pitchFamily="34" charset="-120"/>
              </a:rPr>
              <a:t>Faible</a:t>
            </a:r>
            <a:endParaRPr lang="en-US" sz="1200" dirty="0"/>
          </a:p>
        </p:txBody>
      </p:sp>
      <p:sp>
        <p:nvSpPr>
          <p:cNvPr id="8" name="Text 5"/>
          <p:cNvSpPr/>
          <p:nvPr/>
        </p:nvSpPr>
        <p:spPr>
          <a:xfrm>
            <a:off x="1041289" y="4148919"/>
            <a:ext cx="1320737" cy="391137"/>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2354A"/>
                </a:solidFill>
                <a:latin typeface="Source Sans 3" pitchFamily="34" charset="0"/>
                <a:ea typeface="Source Sans 3" pitchFamily="34" charset="-122"/>
                <a:cs typeface="Source Sans 3" pitchFamily="34" charset="-120"/>
              </a:rPr>
              <a:t>Prix pour le propriétaire</a:t>
            </a:r>
            <a:endParaRPr lang="en-US" sz="1200" dirty="0"/>
          </a:p>
        </p:txBody>
      </p:sp>
      <p:sp>
        <p:nvSpPr>
          <p:cNvPr id="9" name="Text 6"/>
          <p:cNvSpPr/>
          <p:nvPr/>
        </p:nvSpPr>
        <p:spPr>
          <a:xfrm>
            <a:off x="2323997" y="4148919"/>
            <a:ext cx="1320737" cy="208269"/>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2354A"/>
                </a:solidFill>
                <a:latin typeface="Source Sans 3" pitchFamily="34" charset="0"/>
                <a:ea typeface="Source Sans 3" pitchFamily="34" charset="-122"/>
                <a:cs typeface="Source Sans 3" pitchFamily="34" charset="-120"/>
              </a:rPr>
              <a:t>Présence sur place</a:t>
            </a:r>
            <a:endParaRPr lang="en-US" sz="1200" dirty="0"/>
          </a:p>
        </p:txBody>
      </p:sp>
      <p:sp>
        <p:nvSpPr>
          <p:cNvPr id="10" name="Text 7"/>
          <p:cNvSpPr/>
          <p:nvPr/>
        </p:nvSpPr>
        <p:spPr>
          <a:xfrm>
            <a:off x="3606704" y="4148919"/>
            <a:ext cx="1320737" cy="208269"/>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2354A"/>
                </a:solidFill>
                <a:latin typeface="Source Sans 3" pitchFamily="34" charset="0"/>
                <a:ea typeface="Source Sans 3" pitchFamily="34" charset="-122"/>
                <a:cs typeface="Source Sans 3" pitchFamily="34" charset="-120"/>
              </a:rPr>
              <a:t>Langue du locataire</a:t>
            </a:r>
            <a:endParaRPr lang="en-US" sz="1200" dirty="0"/>
          </a:p>
        </p:txBody>
      </p:sp>
      <p:sp>
        <p:nvSpPr>
          <p:cNvPr id="11" name="Text 8"/>
          <p:cNvSpPr/>
          <p:nvPr/>
        </p:nvSpPr>
        <p:spPr>
          <a:xfrm>
            <a:off x="4889412" y="4148919"/>
            <a:ext cx="1320737" cy="391137"/>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2354A"/>
                </a:solidFill>
                <a:latin typeface="Source Sans 3" pitchFamily="34" charset="0"/>
                <a:ea typeface="Source Sans 3" pitchFamily="34" charset="-122"/>
                <a:cs typeface="Source Sans 3" pitchFamily="34" charset="-120"/>
              </a:rPr>
              <a:t>Double signature à distance</a:t>
            </a:r>
            <a:endParaRPr lang="en-US" sz="1200" dirty="0"/>
          </a:p>
        </p:txBody>
      </p:sp>
      <p:sp>
        <p:nvSpPr>
          <p:cNvPr id="12" name="Text 9"/>
          <p:cNvSpPr/>
          <p:nvPr/>
        </p:nvSpPr>
        <p:spPr>
          <a:xfrm>
            <a:off x="6172120" y="4148919"/>
            <a:ext cx="1320737" cy="208269"/>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2354A"/>
                </a:solidFill>
                <a:latin typeface="Source Sans 3" pitchFamily="34" charset="0"/>
                <a:ea typeface="Source Sans 3" pitchFamily="34" charset="-122"/>
                <a:cs typeface="Source Sans 3" pitchFamily="34" charset="-120"/>
              </a:rPr>
              <a:t>Preuve vidéo</a:t>
            </a:r>
            <a:endParaRPr lang="en-US" sz="1200" dirty="0"/>
          </a:p>
        </p:txBody>
      </p:sp>
      <p:sp>
        <p:nvSpPr>
          <p:cNvPr id="13" name="Text 10"/>
          <p:cNvSpPr/>
          <p:nvPr/>
        </p:nvSpPr>
        <p:spPr>
          <a:xfrm>
            <a:off x="7454736" y="4148919"/>
            <a:ext cx="1320737" cy="208269"/>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2354A"/>
                </a:solidFill>
                <a:latin typeface="Source Sans 3" pitchFamily="34" charset="0"/>
                <a:ea typeface="Source Sans 3" pitchFamily="34" charset="-122"/>
                <a:cs typeface="Source Sans 3" pitchFamily="34" charset="-120"/>
              </a:rPr>
              <a:t>Contrôle des pièces</a:t>
            </a:r>
            <a:endParaRPr lang="en-US" sz="1200" dirty="0"/>
          </a:p>
        </p:txBody>
      </p:sp>
      <p:sp>
        <p:nvSpPr>
          <p:cNvPr id="14" name="Text 11"/>
          <p:cNvSpPr/>
          <p:nvPr/>
        </p:nvSpPr>
        <p:spPr>
          <a:xfrm>
            <a:off x="8737444" y="4148919"/>
            <a:ext cx="1320737" cy="391137"/>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2354A"/>
                </a:solidFill>
                <a:latin typeface="Source Sans 3" pitchFamily="34" charset="0"/>
                <a:ea typeface="Source Sans 3" pitchFamily="34" charset="-122"/>
                <a:cs typeface="Source Sans 3" pitchFamily="34" charset="-120"/>
              </a:rPr>
              <a:t>Suivi de la restitution</a:t>
            </a:r>
            <a:endParaRPr lang="en-US" sz="1200" dirty="0"/>
          </a:p>
        </p:txBody>
      </p:sp>
      <p:sp>
        <p:nvSpPr>
          <p:cNvPr id="15" name="Text 12"/>
          <p:cNvSpPr/>
          <p:nvPr/>
        </p:nvSpPr>
        <p:spPr>
          <a:xfrm>
            <a:off x="10020152" y="4148919"/>
            <a:ext cx="1320737" cy="208269"/>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22354A"/>
                </a:solidFill>
                <a:latin typeface="Source Sans 3" pitchFamily="34" charset="0"/>
                <a:ea typeface="Source Sans 3" pitchFamily="34" charset="-122"/>
                <a:cs typeface="Source Sans 3" pitchFamily="34" charset="-120"/>
              </a:rPr>
              <a:t>Sécurité juridique</a:t>
            </a:r>
            <a:endParaRPr lang="en-US" sz="1200" dirty="0"/>
          </a:p>
        </p:txBody>
      </p:sp>
      <p:sp>
        <p:nvSpPr>
          <p:cNvPr id="16" name="Shape 13"/>
          <p:cNvSpPr/>
          <p:nvPr/>
        </p:nvSpPr>
        <p:spPr>
          <a:xfrm>
            <a:off x="815895" y="4710843"/>
            <a:ext cx="2565506" cy="1516253"/>
          </a:xfrm>
          <a:prstGeom prst="rect">
            <a:avLst/>
          </a:prstGeom>
          <a:noFill/>
          <a:ln w="6350">
            <a:solidFill>
              <a:srgbClr val="C9D6E4"/>
            </a:solidFill>
            <a:prstDash val="solid"/>
          </a:ln>
        </p:spPr>
      </p:sp>
      <p:sp>
        <p:nvSpPr>
          <p:cNvPr id="17" name="Shape 14"/>
          <p:cNvSpPr/>
          <p:nvPr/>
        </p:nvSpPr>
        <p:spPr>
          <a:xfrm>
            <a:off x="945501" y="4880756"/>
            <a:ext cx="253969" cy="50721"/>
          </a:xfrm>
          <a:prstGeom prst="rect">
            <a:avLst/>
          </a:prstGeom>
          <a:solidFill>
            <a:srgbClr val="0380A5"/>
          </a:solidFill>
          <a:ln/>
        </p:spPr>
      </p:sp>
      <p:sp>
        <p:nvSpPr>
          <p:cNvPr id="18" name="Text 15"/>
          <p:cNvSpPr/>
          <p:nvPr/>
        </p:nvSpPr>
        <p:spPr>
          <a:xfrm>
            <a:off x="1275643" y="4799512"/>
            <a:ext cx="391062" cy="23879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33A70"/>
                </a:solidFill>
                <a:latin typeface="Source Sans 3" pitchFamily="34" charset="0"/>
                <a:ea typeface="Source Sans 3" pitchFamily="34" charset="-122"/>
                <a:cs typeface="Source Sans 3" pitchFamily="34" charset="-120"/>
              </a:rPr>
              <a:t>Tenu</a:t>
            </a:r>
            <a:endParaRPr lang="en-US" sz="1200" dirty="0"/>
          </a:p>
        </p:txBody>
      </p:sp>
      <p:sp>
        <p:nvSpPr>
          <p:cNvPr id="19" name="Shape 16"/>
          <p:cNvSpPr/>
          <p:nvPr/>
        </p:nvSpPr>
        <p:spPr>
          <a:xfrm>
            <a:off x="945501" y="5139254"/>
            <a:ext cx="253969" cy="25361"/>
          </a:xfrm>
          <a:prstGeom prst="rect">
            <a:avLst/>
          </a:prstGeom>
          <a:solidFill>
            <a:srgbClr val="033A70"/>
          </a:solidFill>
          <a:ln/>
        </p:spPr>
      </p:sp>
      <p:sp>
        <p:nvSpPr>
          <p:cNvPr id="20" name="Text 17"/>
          <p:cNvSpPr/>
          <p:nvPr/>
        </p:nvSpPr>
        <p:spPr>
          <a:xfrm>
            <a:off x="1275643" y="5045239"/>
            <a:ext cx="549965"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54A"/>
                </a:solidFill>
                <a:latin typeface="Source Sans 3" pitchFamily="34" charset="0"/>
                <a:ea typeface="Source Sans 3" pitchFamily="34" charset="-122"/>
                <a:cs typeface="Source Sans 3" pitchFamily="34" charset="-120"/>
              </a:rPr>
              <a:t>Agence</a:t>
            </a:r>
            <a:endParaRPr lang="en-US" sz="1200" dirty="0"/>
          </a:p>
        </p:txBody>
      </p:sp>
      <p:sp>
        <p:nvSpPr>
          <p:cNvPr id="21" name="Shape 18"/>
          <p:cNvSpPr/>
          <p:nvPr/>
        </p:nvSpPr>
        <p:spPr>
          <a:xfrm>
            <a:off x="945501" y="5384981"/>
            <a:ext cx="253969" cy="25361"/>
          </a:xfrm>
          <a:prstGeom prst="rect">
            <a:avLst/>
          </a:prstGeom>
          <a:solidFill>
            <a:srgbClr val="8FC4E8"/>
          </a:solidFill>
          <a:ln/>
        </p:spPr>
      </p:sp>
      <p:sp>
        <p:nvSpPr>
          <p:cNvPr id="22" name="Text 19"/>
          <p:cNvSpPr/>
          <p:nvPr/>
        </p:nvSpPr>
        <p:spPr>
          <a:xfrm>
            <a:off x="1275643" y="5291057"/>
            <a:ext cx="1678914"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54A"/>
                </a:solidFill>
                <a:latin typeface="Source Sans 3" pitchFamily="34" charset="0"/>
                <a:ea typeface="Source Sans 3" pitchFamily="34" charset="-122"/>
                <a:cs typeface="Source Sans 3" pitchFamily="34" charset="-120"/>
              </a:rPr>
              <a:t>Application générique</a:t>
            </a:r>
            <a:endParaRPr lang="en-US" sz="1200" dirty="0"/>
          </a:p>
        </p:txBody>
      </p:sp>
      <p:sp>
        <p:nvSpPr>
          <p:cNvPr id="23" name="Shape 20"/>
          <p:cNvSpPr/>
          <p:nvPr/>
        </p:nvSpPr>
        <p:spPr>
          <a:xfrm>
            <a:off x="945501" y="5630800"/>
            <a:ext cx="253969" cy="25361"/>
          </a:xfrm>
          <a:prstGeom prst="rect">
            <a:avLst/>
          </a:prstGeom>
          <a:solidFill>
            <a:srgbClr val="5B6B7B"/>
          </a:solidFill>
          <a:ln/>
        </p:spPr>
      </p:sp>
      <p:sp>
        <p:nvSpPr>
          <p:cNvPr id="24" name="Text 21"/>
          <p:cNvSpPr/>
          <p:nvPr/>
        </p:nvSpPr>
        <p:spPr>
          <a:xfrm>
            <a:off x="1275643" y="5536874"/>
            <a:ext cx="1754562"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54A"/>
                </a:solidFill>
                <a:latin typeface="Source Sans 3" pitchFamily="34" charset="0"/>
                <a:ea typeface="Source Sans 3" pitchFamily="34" charset="-122"/>
                <a:cs typeface="Source Sans 3" pitchFamily="34" charset="-120"/>
              </a:rPr>
              <a:t>Commissaire de justice</a:t>
            </a:r>
            <a:endParaRPr lang="en-US" sz="1200" dirty="0"/>
          </a:p>
        </p:txBody>
      </p:sp>
      <p:sp>
        <p:nvSpPr>
          <p:cNvPr id="29" name="Shape 26"/>
          <p:cNvSpPr/>
          <p:nvPr/>
        </p:nvSpPr>
        <p:spPr>
          <a:xfrm>
            <a:off x="3852912" y="4717451"/>
            <a:ext cx="2565506" cy="1509646"/>
          </a:xfrm>
          <a:prstGeom prst="rect">
            <a:avLst/>
          </a:prstGeom>
          <a:solidFill>
            <a:srgbClr val="DBEAF9"/>
          </a:solidFill>
          <a:ln/>
        </p:spPr>
        <p:txBody>
          <a:bodyPr/>
          <a:lstStyle/>
          <a:p>
            <a:endParaRPr lang="fr-FR" dirty="0"/>
          </a:p>
        </p:txBody>
      </p:sp>
      <p:sp>
        <p:nvSpPr>
          <p:cNvPr id="30" name="Shape 27"/>
          <p:cNvSpPr/>
          <p:nvPr/>
        </p:nvSpPr>
        <p:spPr>
          <a:xfrm>
            <a:off x="3852912" y="4730151"/>
            <a:ext cx="2565506" cy="0"/>
          </a:xfrm>
          <a:prstGeom prst="line">
            <a:avLst/>
          </a:prstGeom>
          <a:noFill/>
          <a:ln w="25400">
            <a:solidFill>
              <a:srgbClr val="0380A5"/>
            </a:solidFill>
            <a:prstDash val="solid"/>
          </a:ln>
        </p:spPr>
      </p:sp>
      <p:sp>
        <p:nvSpPr>
          <p:cNvPr id="31" name="Text 28"/>
          <p:cNvSpPr/>
          <p:nvPr/>
        </p:nvSpPr>
        <p:spPr>
          <a:xfrm>
            <a:off x="4005257" y="4842172"/>
            <a:ext cx="2413161" cy="315418"/>
          </a:xfrm>
          <a:prstGeom prst="rect">
            <a:avLst/>
          </a:prstGeom>
          <a:noFill/>
          <a:ln/>
        </p:spPr>
        <p:txBody>
          <a:bodyPr wrap="square" lIns="0" tIns="0" rIns="0" bIns="0" rtlCol="0" anchor="t">
            <a:noAutofit/>
          </a:bodyPr>
          <a:lstStyle/>
          <a:p>
            <a:pPr marL="0" indent="0" algn="l">
              <a:lnSpc>
                <a:spcPts val="1554"/>
              </a:lnSpc>
              <a:buNone/>
            </a:pPr>
            <a:r>
              <a:rPr lang="en-US" sz="1050" b="1" dirty="0" err="1">
                <a:solidFill>
                  <a:srgbClr val="033A70"/>
                </a:solidFill>
                <a:latin typeface="Source Sans 3" pitchFamily="34" charset="0"/>
                <a:ea typeface="Source Sans 3" pitchFamily="34" charset="-122"/>
                <a:cs typeface="Source Sans 3" pitchFamily="34" charset="-120"/>
              </a:rPr>
              <a:t>Tenu</a:t>
            </a:r>
            <a:r>
              <a:rPr lang="en-US" sz="1050" b="1" dirty="0">
                <a:solidFill>
                  <a:srgbClr val="033A70"/>
                </a:solidFill>
                <a:latin typeface="Source Sans 3" pitchFamily="34" charset="0"/>
                <a:ea typeface="Source Sans 3" pitchFamily="34" charset="-122"/>
                <a:cs typeface="Source Sans 3" pitchFamily="34" charset="-120"/>
              </a:rPr>
              <a:t> </a:t>
            </a:r>
            <a:r>
              <a:rPr lang="fr-FR" sz="1050" b="1" dirty="0">
                <a:solidFill>
                  <a:srgbClr val="033A70"/>
                </a:solidFill>
                <a:latin typeface="Source Sans 3" pitchFamily="34" charset="0"/>
                <a:ea typeface="Source Sans 3" pitchFamily="34" charset="-122"/>
                <a:cs typeface="Source Sans 3" pitchFamily="34" charset="-120"/>
              </a:rPr>
              <a:t>adresse un marché mal servi aujourd’hui:</a:t>
            </a:r>
            <a:endParaRPr lang="en-US" sz="1050" dirty="0"/>
          </a:p>
        </p:txBody>
      </p:sp>
      <p:sp>
        <p:nvSpPr>
          <p:cNvPr id="32" name="Text 29"/>
          <p:cNvSpPr/>
          <p:nvPr/>
        </p:nvSpPr>
        <p:spPr>
          <a:xfrm>
            <a:off x="3971345" y="5283148"/>
            <a:ext cx="2413160" cy="862001"/>
          </a:xfrm>
          <a:prstGeom prst="rect">
            <a:avLst/>
          </a:prstGeom>
          <a:noFill/>
          <a:ln/>
        </p:spPr>
        <p:txBody>
          <a:bodyPr wrap="square" lIns="0" tIns="0" rIns="0" bIns="0" rtlCol="0" anchor="t">
            <a:normAutofit/>
          </a:bodyPr>
          <a:lstStyle/>
          <a:p>
            <a:pPr marL="0" indent="0" algn="l">
              <a:lnSpc>
                <a:spcPts val="1470"/>
              </a:lnSpc>
              <a:buNone/>
            </a:pPr>
            <a:r>
              <a:rPr lang="en-US" sz="1100" dirty="0">
                <a:solidFill>
                  <a:srgbClr val="22354A"/>
                </a:solidFill>
                <a:latin typeface="Source Sans 3" pitchFamily="34" charset="0"/>
                <a:ea typeface="Source Sans 3" pitchFamily="34" charset="-122"/>
                <a:cs typeface="Source Sans 3" pitchFamily="34" charset="-120"/>
              </a:rPr>
              <a:t>Propriétaire absent, locataire qui lit dans sa langue, double signature à distance, vidéo, suivi jusqu’à la restitution.</a:t>
            </a:r>
            <a:endParaRPr lang="en-US" sz="1100" dirty="0"/>
          </a:p>
        </p:txBody>
      </p:sp>
      <p:sp>
        <p:nvSpPr>
          <p:cNvPr id="33" name="Shape 30"/>
          <p:cNvSpPr/>
          <p:nvPr/>
        </p:nvSpPr>
        <p:spPr>
          <a:xfrm>
            <a:off x="6765360" y="4717450"/>
            <a:ext cx="2565506" cy="1509641"/>
          </a:xfrm>
          <a:prstGeom prst="rect">
            <a:avLst/>
          </a:prstGeom>
          <a:solidFill>
            <a:srgbClr val="033A70"/>
          </a:solidFill>
          <a:ln/>
        </p:spPr>
      </p:sp>
      <p:sp>
        <p:nvSpPr>
          <p:cNvPr id="34" name="Text 31"/>
          <p:cNvSpPr/>
          <p:nvPr/>
        </p:nvSpPr>
        <p:spPr>
          <a:xfrm>
            <a:off x="6917705" y="4818985"/>
            <a:ext cx="2328640" cy="174304"/>
          </a:xfrm>
          <a:prstGeom prst="rect">
            <a:avLst/>
          </a:prstGeom>
          <a:noFill/>
          <a:ln/>
        </p:spPr>
        <p:txBody>
          <a:bodyPr wrap="square" lIns="0" tIns="0" rIns="0" bIns="0" rtlCol="0" anchor="t">
            <a:normAutofit/>
          </a:bodyPr>
          <a:lstStyle/>
          <a:p>
            <a:pPr marL="0" indent="0" algn="l">
              <a:lnSpc>
                <a:spcPts val="1171"/>
              </a:lnSpc>
              <a:buNone/>
            </a:pPr>
            <a:r>
              <a:rPr lang="en-US" sz="836" b="1" dirty="0">
                <a:solidFill>
                  <a:srgbClr val="F6F8FB"/>
                </a:solidFill>
                <a:latin typeface="Source Sans 3" pitchFamily="34" charset="0"/>
                <a:ea typeface="Source Sans 3" pitchFamily="34" charset="-122"/>
                <a:cs typeface="Source Sans 3" pitchFamily="34" charset="-120"/>
              </a:rPr>
              <a:t>Un repère pour le propriétaire</a:t>
            </a:r>
            <a:endParaRPr lang="en-US" sz="836" dirty="0"/>
          </a:p>
        </p:txBody>
      </p:sp>
      <p:sp>
        <p:nvSpPr>
          <p:cNvPr id="35" name="Text 32"/>
          <p:cNvSpPr/>
          <p:nvPr/>
        </p:nvSpPr>
        <p:spPr>
          <a:xfrm>
            <a:off x="6917705" y="5005930"/>
            <a:ext cx="2328640" cy="769736"/>
          </a:xfrm>
          <a:prstGeom prst="rect">
            <a:avLst/>
          </a:prstGeom>
          <a:noFill/>
          <a:ln/>
        </p:spPr>
        <p:txBody>
          <a:bodyPr wrap="square" lIns="0" tIns="0" rIns="0" bIns="0" rtlCol="0" anchor="t">
            <a:normAutofit/>
          </a:bodyPr>
          <a:lstStyle/>
          <a:p>
            <a:pPr marL="0" indent="0" algn="l">
              <a:lnSpc>
                <a:spcPts val="1465"/>
              </a:lnSpc>
              <a:buNone/>
            </a:pPr>
            <a:r>
              <a:rPr lang="en-US" sz="1046" dirty="0">
                <a:solidFill>
                  <a:srgbClr val="C9DBEE"/>
                </a:solidFill>
                <a:latin typeface="Source Sans 3" pitchFamily="34" charset="0"/>
                <a:ea typeface="Source Sans 3" pitchFamily="34" charset="-122"/>
                <a:cs typeface="Source Sans 3" pitchFamily="34" charset="-120"/>
              </a:rPr>
              <a:t>Un commissaire de justice coûte 131,50 à 229,81 € TTC par constat ; un an d’application générique 119,88 € ; Tenu couvre tout le cycle pour moins de 100 €.</a:t>
            </a:r>
            <a:endParaRPr lang="en-US" sz="104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BEAF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20" y="812719"/>
            <a:ext cx="10883529" cy="756603"/>
          </a:xfrm>
          <a:prstGeom prst="rect">
            <a:avLst/>
          </a:prstGeom>
          <a:noFill/>
          <a:ln/>
        </p:spPr>
        <p:txBody>
          <a:bodyPr wrap="square" lIns="0" tIns="0" rIns="0" bIns="0" rtlCol="0" anchor="t">
            <a:normAutofit/>
          </a:bodyPr>
          <a:lstStyle/>
          <a:p>
            <a:pPr marL="0" indent="0" algn="l">
              <a:lnSpc>
                <a:spcPts val="2882"/>
              </a:lnSpc>
              <a:buNone/>
            </a:pPr>
            <a:r>
              <a:rPr lang="en-US" sz="2620" b="1" i="0" dirty="0">
                <a:solidFill>
                  <a:srgbClr val="033A70"/>
                </a:solidFill>
                <a:latin typeface="Source Sans 3" pitchFamily="34" charset="0"/>
                <a:ea typeface="Source Sans 3" pitchFamily="34" charset="-122"/>
                <a:cs typeface="Source Sans 3" pitchFamily="34" charset="-120"/>
              </a:rPr>
              <a:t>Modèle opérationnel : quatre acteurs, cinq phases, des niveaux de service engagés</a:t>
            </a:r>
            <a:endParaRPr lang="en-US" sz="2620" dirty="0"/>
          </a:p>
        </p:txBody>
      </p:sp>
      <p:sp>
        <p:nvSpPr>
          <p:cNvPr id="3" name="Shape 1"/>
          <p:cNvSpPr/>
          <p:nvPr/>
        </p:nvSpPr>
        <p:spPr>
          <a:xfrm>
            <a:off x="812720" y="1747081"/>
            <a:ext cx="4698974" cy="4203626"/>
          </a:xfrm>
          <a:prstGeom prst="rect">
            <a:avLst/>
          </a:prstGeom>
          <a:solidFill>
            <a:srgbClr val="F6F8FB"/>
          </a:solidFill>
          <a:ln/>
        </p:spPr>
      </p:sp>
      <p:pic>
        <p:nvPicPr>
          <p:cNvPr id="4" name="Image 0" descr="Schéma opérationnel : cinq phases (acquérir, sélectionner, entrer, pendant le bail, sortir) pour quatre acteurs (propriétaire, locataire, plateforme, équipe), avec l’état des lieux à distance mis en valeur"/>
          <p:cNvPicPr>
            <a:picLocks noChangeAspect="1"/>
          </p:cNvPicPr>
          <p:nvPr/>
        </p:nvPicPr>
        <p:blipFill>
          <a:blip r:embed="rId3"/>
          <a:srcRect l="-3" r="-3"/>
          <a:stretch/>
        </p:blipFill>
        <p:spPr>
          <a:xfrm>
            <a:off x="819070" y="1753431"/>
            <a:ext cx="4686274" cy="4190926"/>
          </a:xfrm>
          <a:prstGeom prst="rect">
            <a:avLst/>
          </a:prstGeom>
        </p:spPr>
      </p:pic>
      <p:sp>
        <p:nvSpPr>
          <p:cNvPr id="5" name="Shape 2"/>
          <p:cNvSpPr/>
          <p:nvPr/>
        </p:nvSpPr>
        <p:spPr>
          <a:xfrm>
            <a:off x="815895" y="1750256"/>
            <a:ext cx="4692624" cy="4197276"/>
          </a:xfrm>
          <a:prstGeom prst="rect">
            <a:avLst/>
          </a:prstGeom>
          <a:noFill/>
          <a:ln w="6350">
            <a:solidFill>
              <a:srgbClr val="C9D6E4"/>
            </a:solidFill>
            <a:prstDash val="solid"/>
          </a:ln>
        </p:spPr>
      </p:sp>
      <p:sp>
        <p:nvSpPr>
          <p:cNvPr id="6" name="Text 3"/>
          <p:cNvSpPr/>
          <p:nvPr/>
        </p:nvSpPr>
        <p:spPr>
          <a:xfrm>
            <a:off x="5765663" y="1747081"/>
            <a:ext cx="5781997" cy="238702"/>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Niveaux de service cibles</a:t>
            </a:r>
            <a:endParaRPr lang="en-US" sz="1400" dirty="0"/>
          </a:p>
        </p:txBody>
      </p:sp>
      <p:sp>
        <p:nvSpPr>
          <p:cNvPr id="7" name="Shape 4"/>
          <p:cNvSpPr/>
          <p:nvPr/>
        </p:nvSpPr>
        <p:spPr>
          <a:xfrm>
            <a:off x="5765663" y="2061914"/>
            <a:ext cx="5613590" cy="3949747"/>
          </a:xfrm>
          <a:prstGeom prst="rect">
            <a:avLst/>
          </a:prstGeom>
          <a:solidFill>
            <a:srgbClr val="F6F8FB"/>
          </a:solidFill>
          <a:ln/>
        </p:spPr>
      </p:sp>
      <p:sp>
        <p:nvSpPr>
          <p:cNvPr id="8" name="Shape 5"/>
          <p:cNvSpPr/>
          <p:nvPr/>
        </p:nvSpPr>
        <p:spPr>
          <a:xfrm>
            <a:off x="11376078" y="2061914"/>
            <a:ext cx="0" cy="3949747"/>
          </a:xfrm>
          <a:prstGeom prst="line">
            <a:avLst/>
          </a:prstGeom>
          <a:noFill/>
          <a:ln w="6350">
            <a:solidFill>
              <a:srgbClr val="C9D6E4"/>
            </a:solidFill>
            <a:prstDash val="solid"/>
          </a:ln>
        </p:spPr>
      </p:sp>
      <p:sp>
        <p:nvSpPr>
          <p:cNvPr id="9" name="Shape 6"/>
          <p:cNvSpPr/>
          <p:nvPr/>
        </p:nvSpPr>
        <p:spPr>
          <a:xfrm>
            <a:off x="5765663" y="6008486"/>
            <a:ext cx="5613590" cy="0"/>
          </a:xfrm>
          <a:prstGeom prst="line">
            <a:avLst/>
          </a:prstGeom>
          <a:noFill/>
          <a:ln w="6350">
            <a:solidFill>
              <a:srgbClr val="C9D6E4"/>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77257" y="2073508"/>
          <a:ext cx="5596200" cy="3932360"/>
        </p:xfrm>
        <a:graphic>
          <a:graphicData uri="http://schemas.openxmlformats.org/drawingml/2006/table">
            <a:tbl>
              <a:tblPr/>
              <a:tblGrid>
                <a:gridCol w="2574252">
                  <a:extLst>
                    <a:ext uri="{9D8B030D-6E8A-4147-A177-3AD203B41FA5}">
                      <a16:colId xmlns:a16="http://schemas.microsoft.com/office/drawing/2014/main" val="20000"/>
                    </a:ext>
                  </a:extLst>
                </a:gridCol>
                <a:gridCol w="3021948">
                  <a:extLst>
                    <a:ext uri="{9D8B030D-6E8A-4147-A177-3AD203B41FA5}">
                      <a16:colId xmlns:a16="http://schemas.microsoft.com/office/drawing/2014/main" val="20001"/>
                    </a:ext>
                  </a:extLst>
                </a:gridCol>
              </a:tblGrid>
              <a:tr h="331501">
                <a:tc>
                  <a:txBody>
                    <a:bodyPr/>
                    <a:lstStyle/>
                    <a:p>
                      <a:pPr marL="0" indent="0">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Processus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Cible</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extLst>
                  <a:ext uri="{0D108BD9-81ED-4DB2-BD59-A6C34878D82A}">
                    <a16:rowId xmlns:a16="http://schemas.microsoft.com/office/drawing/2014/main" val="10000"/>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Recrutement des prescripteurs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Prescripteur actif en moins de deux semaines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1"/>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Assistance pendant l’état des lieux à distance</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Réponse en moins de 15 minutes pendant la capture</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2"/>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Support propriétaires et locataires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Réponse humaine sous un jour ouvré</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3"/>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Contrôle qualité de l’IA</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10 % des constats ; 100 % des comparatifs contestés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4"/>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Pièces des candidats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Liste légale seulement ; purge des non-retenus sous trois mois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5"/>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Réclamations et médiation</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Accusé sous deux jours ouvrés, réponse sous dix</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6"/>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Incidents et données personnelles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Notification à la CNIL sous 72 heures en cas de violation</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1" name="Text 7"/>
          <p:cNvSpPr/>
          <p:nvPr/>
        </p:nvSpPr>
        <p:spPr>
          <a:xfrm>
            <a:off x="5765663" y="6113196"/>
            <a:ext cx="5781997" cy="665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B"/>
                </a:solidFill>
                <a:latin typeface="Source Sans 3" pitchFamily="34" charset="0"/>
                <a:ea typeface="Source Sans 3" pitchFamily="34" charset="-122"/>
                <a:cs typeface="Source Sans 3" pitchFamily="34" charset="-120"/>
              </a:rPr>
              <a:t>Fonctions support : juridique (CGV, article 28, article 54), données et sécurité (DPO, purges, incidents), finance (prix, Stripe, OSS, commissions), pilotage (tableau de bord, portes G0, G1, G2).</a:t>
            </a:r>
            <a:endParaRPr lang="en-US" sz="1200" dirty="0"/>
          </a:p>
        </p:txBody>
      </p:sp>
      <p:sp>
        <p:nvSpPr>
          <p:cNvPr id="12" name="Text 8"/>
          <p:cNvSpPr/>
          <p:nvPr/>
        </p:nvSpPr>
        <p:spPr>
          <a:xfrm>
            <a:off x="812720" y="6238280"/>
            <a:ext cx="10883342"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B"/>
                </a:solidFill>
                <a:latin typeface="Source Sans 3" pitchFamily="34" charset="0"/>
                <a:ea typeface="Source Sans 3" pitchFamily="34" charset="-122"/>
                <a:cs typeface="Source Sans 3" pitchFamily="34" charset="-120"/>
              </a:rPr>
              <a:t>Source : note stratégique §5 et son schéma opérationnel (image de l’équipe) · 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20" y="812719"/>
            <a:ext cx="10883529" cy="860763"/>
          </a:xfrm>
          <a:prstGeom prst="rect">
            <a:avLst/>
          </a:prstGeom>
          <a:noFill/>
          <a:ln/>
        </p:spPr>
        <p:txBody>
          <a:bodyPr wrap="square" lIns="0" tIns="0" rIns="0" bIns="0" rtlCol="0" anchor="t">
            <a:normAutofit/>
          </a:bodyPr>
          <a:lstStyle/>
          <a:p>
            <a:pPr marL="0" indent="0" algn="l">
              <a:lnSpc>
                <a:spcPts val="3311"/>
              </a:lnSpc>
              <a:buNone/>
            </a:pPr>
            <a:r>
              <a:rPr lang="en-US" sz="3010" b="1" i="0" dirty="0">
                <a:solidFill>
                  <a:srgbClr val="033A70"/>
                </a:solidFill>
                <a:latin typeface="Source Sans 3" pitchFamily="34" charset="0"/>
                <a:ea typeface="Source Sans 3" pitchFamily="34" charset="-122"/>
                <a:cs typeface="Source Sans 3" pitchFamily="34" charset="-120"/>
              </a:rPr>
              <a:t>Modèle juridique : une seule relation contractuelle, des préalables avant toute vente</a:t>
            </a:r>
            <a:endParaRPr lang="en-US" sz="3010" dirty="0"/>
          </a:p>
        </p:txBody>
      </p:sp>
      <p:sp>
        <p:nvSpPr>
          <p:cNvPr id="3" name="Text 1"/>
          <p:cNvSpPr/>
          <p:nvPr/>
        </p:nvSpPr>
        <p:spPr>
          <a:xfrm>
            <a:off x="812720" y="1825879"/>
            <a:ext cx="5912792" cy="224300"/>
          </a:xfrm>
          <a:prstGeom prst="rect">
            <a:avLst/>
          </a:prstGeom>
          <a:noFill/>
          <a:ln/>
        </p:spPr>
        <p:txBody>
          <a:bodyPr wrap="square" lIns="0" tIns="0" rIns="0" bIns="0" rtlCol="0" anchor="t">
            <a:normAutofit/>
          </a:bodyPr>
          <a:lstStyle/>
          <a:p>
            <a:pPr marL="0" indent="0" algn="l">
              <a:lnSpc>
                <a:spcPts val="1575"/>
              </a:lnSpc>
              <a:buNone/>
            </a:pPr>
            <a:r>
              <a:rPr lang="en-US" sz="1313" b="1" dirty="0">
                <a:solidFill>
                  <a:srgbClr val="033A70"/>
                </a:solidFill>
                <a:latin typeface="Source Sans 3" pitchFamily="34" charset="0"/>
                <a:ea typeface="Source Sans 3" pitchFamily="34" charset="-122"/>
                <a:cs typeface="Source Sans 3" pitchFamily="34" charset="-120"/>
              </a:rPr>
              <a:t>Le cadre écrit par l’équipe</a:t>
            </a:r>
            <a:endParaRPr lang="en-US" sz="1313" dirty="0"/>
          </a:p>
        </p:txBody>
      </p:sp>
      <p:sp>
        <p:nvSpPr>
          <p:cNvPr id="4" name="Text 2"/>
          <p:cNvSpPr/>
          <p:nvPr/>
        </p:nvSpPr>
        <p:spPr>
          <a:xfrm>
            <a:off x="911869" y="2126314"/>
            <a:ext cx="5806023" cy="2910541"/>
          </a:xfrm>
          <a:prstGeom prst="rect">
            <a:avLst/>
          </a:prstGeom>
          <a:noFill/>
          <a:ln/>
        </p:spPr>
        <p:txBody>
          <a:bodyPr wrap="square" lIns="0" tIns="0" rIns="0" bIns="0" rtlCol="0" anchor="t">
            <a:normAutofit/>
          </a:bodyPr>
          <a:lstStyle/>
          <a:p>
            <a:pPr marL="154851" indent="-154851" algn="l">
              <a:lnSpc>
                <a:spcPts val="1675"/>
              </a:lnSpc>
              <a:buSzPct val="100000"/>
              <a:buChar char="•"/>
            </a:pPr>
            <a:r>
              <a:rPr lang="en-US" sz="1155" dirty="0">
                <a:solidFill>
                  <a:srgbClr val="22354A"/>
                </a:solidFill>
                <a:latin typeface="Source Sans 3" pitchFamily="34" charset="0"/>
                <a:ea typeface="Source Sans 3" pitchFamily="34" charset="-122"/>
                <a:cs typeface="Source Sans 3" pitchFamily="34" charset="-120"/>
              </a:rPr>
              <a:t>Un seul contrat de prestation, entre Tenu et le propriétaire ; le bail et l’état des lieux sont des actes distincts entre les parties</a:t>
            </a:r>
            <a:endParaRPr lang="en-US" sz="1155" dirty="0"/>
          </a:p>
          <a:p>
            <a:pPr marL="154851" indent="-154851" algn="l">
              <a:lnSpc>
                <a:spcPts val="1675"/>
              </a:lnSpc>
              <a:buSzPct val="100000"/>
              <a:buChar char="•"/>
            </a:pPr>
            <a:r>
              <a:rPr lang="en-US" sz="1155" dirty="0">
                <a:solidFill>
                  <a:srgbClr val="22354A"/>
                </a:solidFill>
                <a:latin typeface="Source Sans 3" pitchFamily="34" charset="0"/>
                <a:ea typeface="Source Sans 3" pitchFamily="34" charset="-122"/>
                <a:cs typeface="Source Sans 3" pitchFamily="34" charset="-120"/>
              </a:rPr>
              <a:t>Périmètre : France, baux de résidence principale, vide ou meublé. Exclus jusqu’à validation : Royaume-Uni, saisonnier, bail mobilité, logement social, colocations à contrats multiples</a:t>
            </a:r>
            <a:endParaRPr lang="en-US" sz="1155" dirty="0"/>
          </a:p>
          <a:p>
            <a:pPr marL="154851" indent="-154851" algn="l">
              <a:lnSpc>
                <a:spcPts val="1675"/>
              </a:lnSpc>
              <a:buSzPct val="100000"/>
              <a:buChar char="•"/>
            </a:pPr>
            <a:r>
              <a:rPr lang="en-US" sz="1155" dirty="0">
                <a:solidFill>
                  <a:srgbClr val="22354A"/>
                </a:solidFill>
                <a:latin typeface="Source Sans 3" pitchFamily="34" charset="0"/>
                <a:ea typeface="Source Sans 3" pitchFamily="34" charset="-122"/>
                <a:cs typeface="Source Sans 3" pitchFamily="34" charset="-120"/>
              </a:rPr>
              <a:t>Rôles RGPD à confirmer avec le DPO : le propriétaire est responsable du traitement des données de ses candidats et locataires, Tenu sous-traitant ; Tenu responsable pour ses propres finalités</a:t>
            </a:r>
            <a:endParaRPr lang="en-US" sz="1155" dirty="0"/>
          </a:p>
          <a:p>
            <a:pPr marL="154851" indent="-154851" algn="l">
              <a:lnSpc>
                <a:spcPts val="1675"/>
              </a:lnSpc>
              <a:buSzPct val="100000"/>
              <a:buChar char="•"/>
            </a:pPr>
            <a:r>
              <a:rPr lang="en-US" sz="1155" dirty="0">
                <a:solidFill>
                  <a:srgbClr val="22354A"/>
                </a:solidFill>
                <a:latin typeface="Source Sans 3" pitchFamily="34" charset="0"/>
                <a:ea typeface="Source Sans 3" pitchFamily="34" charset="-122"/>
                <a:cs typeface="Source Sans 3" pitchFamily="34" charset="-120"/>
              </a:rPr>
              <a:t>Photos et vidéos purgées douze mois après la sortie effective ; aucun entraînement sur les dossiers clients ; l’IA signale les incohérences et ne certifie jamais l’authenticité</a:t>
            </a:r>
            <a:endParaRPr lang="en-US" sz="1155" dirty="0"/>
          </a:p>
          <a:p>
            <a:pPr marL="154851" indent="-154851" algn="l">
              <a:lnSpc>
                <a:spcPts val="1675"/>
              </a:lnSpc>
              <a:buSzPct val="100000"/>
              <a:buChar char="•"/>
            </a:pPr>
            <a:r>
              <a:rPr lang="en-US" sz="1155" dirty="0">
                <a:solidFill>
                  <a:srgbClr val="22354A"/>
                </a:solidFill>
                <a:latin typeface="Source Sans 3" pitchFamily="34" charset="0"/>
                <a:ea typeface="Source Sans 3" pitchFamily="34" charset="-122"/>
                <a:cs typeface="Source Sans 3" pitchFamily="34" charset="-120"/>
              </a:rPr>
              <a:t>Pièces des candidats de la liste légale seulement ; aucun critère lié à l’origine, la nationalité ou la langue ; droit de rétractation du consommateur préservé</a:t>
            </a:r>
            <a:endParaRPr lang="en-US" sz="1155" dirty="0"/>
          </a:p>
          <a:p>
            <a:pPr marL="154851" indent="-154851" algn="l">
              <a:lnSpc>
                <a:spcPts val="1675"/>
              </a:lnSpc>
              <a:buSzPct val="100000"/>
              <a:buChar char="•"/>
            </a:pPr>
            <a:r>
              <a:rPr lang="en-US" sz="1155" dirty="0">
                <a:solidFill>
                  <a:srgbClr val="22354A"/>
                </a:solidFill>
                <a:latin typeface="Source Sans 3" pitchFamily="34" charset="0"/>
                <a:ea typeface="Source Sans 3" pitchFamily="34" charset="-122"/>
                <a:cs typeface="Source Sans 3" pitchFamily="34" charset="-120"/>
              </a:rPr>
              <a:t>Pas de recherche de locataire ni d’entremise : le rôle de Tenu reste hors du champ de la loi Hoguet, à vérifier par l’avocat</a:t>
            </a:r>
            <a:endParaRPr lang="en-US" sz="1155" dirty="0"/>
          </a:p>
        </p:txBody>
      </p:sp>
      <p:sp>
        <p:nvSpPr>
          <p:cNvPr id="5" name="Text 3"/>
          <p:cNvSpPr/>
          <p:nvPr/>
        </p:nvSpPr>
        <p:spPr>
          <a:xfrm>
            <a:off x="6807264" y="1825879"/>
            <a:ext cx="4709149" cy="224844"/>
          </a:xfrm>
          <a:prstGeom prst="rect">
            <a:avLst/>
          </a:prstGeom>
          <a:noFill/>
          <a:ln/>
        </p:spPr>
        <p:txBody>
          <a:bodyPr wrap="square" lIns="0" tIns="0" rIns="0" bIns="0" rtlCol="0" anchor="t">
            <a:normAutofit/>
          </a:bodyPr>
          <a:lstStyle/>
          <a:p>
            <a:pPr marL="0" indent="0" algn="l">
              <a:lnSpc>
                <a:spcPts val="1575"/>
              </a:lnSpc>
              <a:buNone/>
            </a:pPr>
            <a:r>
              <a:rPr lang="en-US" sz="1313" b="1" dirty="0">
                <a:solidFill>
                  <a:srgbClr val="033A70"/>
                </a:solidFill>
                <a:latin typeface="Source Sans 3" pitchFamily="34" charset="0"/>
                <a:ea typeface="Source Sans 3" pitchFamily="34" charset="-122"/>
                <a:cs typeface="Source Sans 3" pitchFamily="34" charset="-120"/>
              </a:rPr>
              <a:t>Trois conditions précèdent toute vente</a:t>
            </a:r>
            <a:endParaRPr lang="en-US" sz="1313" dirty="0"/>
          </a:p>
        </p:txBody>
      </p:sp>
      <p:sp>
        <p:nvSpPr>
          <p:cNvPr id="6" name="Shape 4"/>
          <p:cNvSpPr/>
          <p:nvPr/>
        </p:nvSpPr>
        <p:spPr>
          <a:xfrm>
            <a:off x="6807264" y="2126856"/>
            <a:ext cx="4571990" cy="627315"/>
          </a:xfrm>
          <a:prstGeom prst="rect">
            <a:avLst/>
          </a:prstGeom>
          <a:solidFill>
            <a:srgbClr val="DBEAF9"/>
          </a:solidFill>
          <a:ln/>
        </p:spPr>
      </p:sp>
      <p:sp>
        <p:nvSpPr>
          <p:cNvPr id="7" name="Shape 5"/>
          <p:cNvSpPr/>
          <p:nvPr/>
        </p:nvSpPr>
        <p:spPr>
          <a:xfrm>
            <a:off x="6826314" y="2126856"/>
            <a:ext cx="0" cy="627315"/>
          </a:xfrm>
          <a:prstGeom prst="line">
            <a:avLst/>
          </a:prstGeom>
          <a:noFill/>
          <a:ln w="38100">
            <a:solidFill>
              <a:srgbClr val="0380A5"/>
            </a:solidFill>
            <a:prstDash val="solid"/>
          </a:ln>
        </p:spPr>
      </p:sp>
      <p:sp>
        <p:nvSpPr>
          <p:cNvPr id="8" name="Text 6"/>
          <p:cNvSpPr/>
          <p:nvPr/>
        </p:nvSpPr>
        <p:spPr>
          <a:xfrm>
            <a:off x="6994389" y="2241069"/>
            <a:ext cx="4359494" cy="424287"/>
          </a:xfrm>
          <a:prstGeom prst="rect">
            <a:avLst/>
          </a:prstGeom>
          <a:noFill/>
          <a:ln/>
        </p:spPr>
        <p:txBody>
          <a:bodyPr wrap="square" lIns="0" tIns="0" rIns="0" bIns="0" rtlCol="0" anchor="t">
            <a:normAutofit/>
          </a:bodyPr>
          <a:lstStyle/>
          <a:p>
            <a:pPr marL="0" indent="0" algn="l">
              <a:lnSpc>
                <a:spcPts val="1585"/>
              </a:lnSpc>
              <a:buNone/>
            </a:pPr>
            <a:r>
              <a:rPr lang="en-US" sz="1133" b="1" dirty="0">
                <a:solidFill>
                  <a:srgbClr val="22354A"/>
                </a:solidFill>
                <a:latin typeface="Source Sans 3" pitchFamily="34" charset="0"/>
                <a:ea typeface="Source Sans 3" pitchFamily="34" charset="-122"/>
                <a:cs typeface="Source Sans 3" pitchFamily="34" charset="-120"/>
              </a:rPr>
              <a:t>1.</a:t>
            </a:r>
            <a:r>
              <a:rPr lang="en-US" sz="1133" dirty="0">
                <a:solidFill>
                  <a:srgbClr val="22354A"/>
                </a:solidFill>
                <a:latin typeface="Source Sans 3" pitchFamily="34" charset="0"/>
                <a:ea typeface="Source Sans 3" pitchFamily="34" charset="-122"/>
                <a:cs typeface="Source Sans 3" pitchFamily="34" charset="-120"/>
              </a:rPr>
              <a:t> Un avis écrit d’avocat confirmant qu’un état des lieux à distance reste contradictoire et signé par les deux parties</a:t>
            </a:r>
            <a:endParaRPr lang="en-US" sz="1133" dirty="0"/>
          </a:p>
        </p:txBody>
      </p:sp>
      <p:sp>
        <p:nvSpPr>
          <p:cNvPr id="9" name="Shape 7"/>
          <p:cNvSpPr/>
          <p:nvPr/>
        </p:nvSpPr>
        <p:spPr>
          <a:xfrm>
            <a:off x="6807264" y="2855705"/>
            <a:ext cx="4571990" cy="627405"/>
          </a:xfrm>
          <a:prstGeom prst="rect">
            <a:avLst/>
          </a:prstGeom>
          <a:solidFill>
            <a:srgbClr val="DBEAF9"/>
          </a:solidFill>
          <a:ln/>
        </p:spPr>
      </p:sp>
      <p:sp>
        <p:nvSpPr>
          <p:cNvPr id="10" name="Shape 8"/>
          <p:cNvSpPr/>
          <p:nvPr/>
        </p:nvSpPr>
        <p:spPr>
          <a:xfrm>
            <a:off x="6826314" y="2855705"/>
            <a:ext cx="0" cy="627405"/>
          </a:xfrm>
          <a:prstGeom prst="line">
            <a:avLst/>
          </a:prstGeom>
          <a:noFill/>
          <a:ln w="38100">
            <a:solidFill>
              <a:srgbClr val="0380A5"/>
            </a:solidFill>
            <a:prstDash val="solid"/>
          </a:ln>
        </p:spPr>
      </p:sp>
      <p:sp>
        <p:nvSpPr>
          <p:cNvPr id="11" name="Text 9"/>
          <p:cNvSpPr/>
          <p:nvPr/>
        </p:nvSpPr>
        <p:spPr>
          <a:xfrm>
            <a:off x="6994389" y="2969918"/>
            <a:ext cx="4359494" cy="424378"/>
          </a:xfrm>
          <a:prstGeom prst="rect">
            <a:avLst/>
          </a:prstGeom>
          <a:noFill/>
          <a:ln/>
        </p:spPr>
        <p:txBody>
          <a:bodyPr wrap="square" lIns="0" tIns="0" rIns="0" bIns="0" rtlCol="0" anchor="t">
            <a:normAutofit/>
          </a:bodyPr>
          <a:lstStyle/>
          <a:p>
            <a:pPr marL="0" indent="0" algn="l">
              <a:lnSpc>
                <a:spcPts val="1585"/>
              </a:lnSpc>
              <a:buNone/>
            </a:pPr>
            <a:r>
              <a:rPr lang="en-US" sz="1133" b="1" dirty="0">
                <a:solidFill>
                  <a:srgbClr val="22354A"/>
                </a:solidFill>
                <a:latin typeface="Source Sans 3" pitchFamily="34" charset="0"/>
                <a:ea typeface="Source Sans 3" pitchFamily="34" charset="-122"/>
                <a:cs typeface="Source Sans 3" pitchFamily="34" charset="-120"/>
              </a:rPr>
              <a:t>2.</a:t>
            </a:r>
            <a:r>
              <a:rPr lang="en-US" sz="1133" dirty="0">
                <a:solidFill>
                  <a:srgbClr val="22354A"/>
                </a:solidFill>
                <a:latin typeface="Source Sans 3" pitchFamily="34" charset="0"/>
                <a:ea typeface="Source Sans 3" pitchFamily="34" charset="-122"/>
                <a:cs typeface="Source Sans 3" pitchFamily="34" charset="-120"/>
              </a:rPr>
              <a:t> L’abandon de la notation des locataires : aucun fichier informel, aucune discrimination à raison de l’origine</a:t>
            </a:r>
            <a:endParaRPr lang="en-US" sz="1133" dirty="0"/>
          </a:p>
        </p:txBody>
      </p:sp>
      <p:sp>
        <p:nvSpPr>
          <p:cNvPr id="12" name="Shape 10"/>
          <p:cNvSpPr/>
          <p:nvPr/>
        </p:nvSpPr>
        <p:spPr>
          <a:xfrm>
            <a:off x="6807264" y="3584643"/>
            <a:ext cx="4571990" cy="627315"/>
          </a:xfrm>
          <a:prstGeom prst="rect">
            <a:avLst/>
          </a:prstGeom>
          <a:solidFill>
            <a:srgbClr val="DBEAF9"/>
          </a:solidFill>
          <a:ln/>
        </p:spPr>
      </p:sp>
      <p:sp>
        <p:nvSpPr>
          <p:cNvPr id="13" name="Shape 11"/>
          <p:cNvSpPr/>
          <p:nvPr/>
        </p:nvSpPr>
        <p:spPr>
          <a:xfrm>
            <a:off x="6826314" y="3584643"/>
            <a:ext cx="0" cy="627315"/>
          </a:xfrm>
          <a:prstGeom prst="line">
            <a:avLst/>
          </a:prstGeom>
          <a:noFill/>
          <a:ln w="38100">
            <a:solidFill>
              <a:srgbClr val="0380A5"/>
            </a:solidFill>
            <a:prstDash val="solid"/>
          </a:ln>
        </p:spPr>
      </p:sp>
      <p:sp>
        <p:nvSpPr>
          <p:cNvPr id="14" name="Text 12"/>
          <p:cNvSpPr/>
          <p:nvPr/>
        </p:nvSpPr>
        <p:spPr>
          <a:xfrm>
            <a:off x="6994389" y="3698856"/>
            <a:ext cx="4359494" cy="424287"/>
          </a:xfrm>
          <a:prstGeom prst="rect">
            <a:avLst/>
          </a:prstGeom>
          <a:noFill/>
          <a:ln/>
        </p:spPr>
        <p:txBody>
          <a:bodyPr wrap="square" lIns="0" tIns="0" rIns="0" bIns="0" rtlCol="0" anchor="t">
            <a:normAutofit/>
          </a:bodyPr>
          <a:lstStyle/>
          <a:p>
            <a:pPr marL="0" indent="0" algn="l">
              <a:lnSpc>
                <a:spcPts val="1585"/>
              </a:lnSpc>
              <a:buNone/>
            </a:pPr>
            <a:r>
              <a:rPr lang="en-US" sz="1133" b="1" dirty="0">
                <a:solidFill>
                  <a:srgbClr val="22354A"/>
                </a:solidFill>
                <a:latin typeface="Source Sans 3" pitchFamily="34" charset="0"/>
                <a:ea typeface="Source Sans 3" pitchFamily="34" charset="-122"/>
                <a:cs typeface="Source Sans 3" pitchFamily="34" charset="-120"/>
              </a:rPr>
              <a:t>3.</a:t>
            </a:r>
            <a:r>
              <a:rPr lang="en-US" sz="1133" dirty="0">
                <a:solidFill>
                  <a:srgbClr val="22354A"/>
                </a:solidFill>
                <a:latin typeface="Source Sans 3" pitchFamily="34" charset="0"/>
                <a:ea typeface="Source Sans 3" pitchFamily="34" charset="-122"/>
                <a:cs typeface="Source Sans 3" pitchFamily="34" charset="-120"/>
              </a:rPr>
              <a:t> Un locataire invité qui reste gratuit et servi dans sa langue, condition de sa coopération</a:t>
            </a:r>
            <a:endParaRPr lang="en-US" sz="1133" dirty="0"/>
          </a:p>
        </p:txBody>
      </p:sp>
      <p:sp>
        <p:nvSpPr>
          <p:cNvPr id="15" name="Shape 13"/>
          <p:cNvSpPr/>
          <p:nvPr/>
        </p:nvSpPr>
        <p:spPr>
          <a:xfrm>
            <a:off x="6807264" y="4313492"/>
            <a:ext cx="1456247" cy="697963"/>
          </a:xfrm>
          <a:prstGeom prst="rect">
            <a:avLst/>
          </a:prstGeom>
          <a:solidFill>
            <a:srgbClr val="0380A5"/>
          </a:solidFill>
          <a:ln/>
        </p:spPr>
      </p:sp>
      <p:sp>
        <p:nvSpPr>
          <p:cNvPr id="16" name="Text 14"/>
          <p:cNvSpPr/>
          <p:nvPr/>
        </p:nvSpPr>
        <p:spPr>
          <a:xfrm>
            <a:off x="6934248" y="4402345"/>
            <a:ext cx="1253078" cy="350470"/>
          </a:xfrm>
          <a:prstGeom prst="rect">
            <a:avLst/>
          </a:prstGeom>
          <a:noFill/>
          <a:ln/>
        </p:spPr>
        <p:txBody>
          <a:bodyPr wrap="square" lIns="0" tIns="0" rIns="0" bIns="0" rtlCol="0" anchor="t">
            <a:normAutofit/>
          </a:bodyPr>
          <a:lstStyle/>
          <a:p>
            <a:pPr marL="0" indent="0" algn="l">
              <a:lnSpc>
                <a:spcPts val="2573"/>
              </a:lnSpc>
              <a:buNone/>
            </a:pPr>
            <a:r>
              <a:rPr lang="en-US" sz="1838" b="1" dirty="0">
                <a:solidFill>
                  <a:srgbClr val="F6F8FB"/>
                </a:solidFill>
                <a:latin typeface="Source Sans 3" pitchFamily="34" charset="0"/>
                <a:ea typeface="Source Sans 3" pitchFamily="34" charset="-122"/>
                <a:cs typeface="Source Sans 3" pitchFamily="34" charset="-120"/>
              </a:rPr>
              <a:t>5</a:t>
            </a:r>
            <a:endParaRPr lang="en-US" sz="1838" dirty="0"/>
          </a:p>
        </p:txBody>
      </p:sp>
      <p:sp>
        <p:nvSpPr>
          <p:cNvPr id="17" name="Text 15"/>
          <p:cNvSpPr/>
          <p:nvPr/>
        </p:nvSpPr>
        <p:spPr>
          <a:xfrm>
            <a:off x="6934248" y="4727414"/>
            <a:ext cx="1253078" cy="220587"/>
          </a:xfrm>
          <a:prstGeom prst="rect">
            <a:avLst/>
          </a:prstGeom>
          <a:noFill/>
          <a:ln/>
        </p:spPr>
        <p:txBody>
          <a:bodyPr wrap="square" lIns="0" tIns="0" rIns="0" bIns="0" rtlCol="0" anchor="t">
            <a:normAutofit/>
          </a:bodyPr>
          <a:lstStyle/>
          <a:p>
            <a:pPr marL="0" indent="0" algn="l">
              <a:lnSpc>
                <a:spcPts val="1575"/>
              </a:lnSpc>
              <a:buNone/>
            </a:pPr>
            <a:r>
              <a:rPr lang="en-US" sz="1125" dirty="0">
                <a:solidFill>
                  <a:srgbClr val="F6F8FB"/>
                </a:solidFill>
                <a:latin typeface="Source Sans 3" pitchFamily="34" charset="0"/>
                <a:ea typeface="Source Sans 3" pitchFamily="34" charset="-122"/>
                <a:cs typeface="Source Sans 3" pitchFamily="34" charset="-120"/>
              </a:rPr>
              <a:t>risques critiques</a:t>
            </a:r>
            <a:endParaRPr lang="en-US" sz="1125" dirty="0"/>
          </a:p>
        </p:txBody>
      </p:sp>
      <p:sp>
        <p:nvSpPr>
          <p:cNvPr id="18" name="Shape 16"/>
          <p:cNvSpPr/>
          <p:nvPr/>
        </p:nvSpPr>
        <p:spPr>
          <a:xfrm>
            <a:off x="8365044" y="4313492"/>
            <a:ext cx="1456338" cy="697963"/>
          </a:xfrm>
          <a:prstGeom prst="rect">
            <a:avLst/>
          </a:prstGeom>
          <a:solidFill>
            <a:srgbClr val="033A70"/>
          </a:solidFill>
          <a:ln/>
        </p:spPr>
      </p:sp>
      <p:sp>
        <p:nvSpPr>
          <p:cNvPr id="19" name="Text 17"/>
          <p:cNvSpPr/>
          <p:nvPr/>
        </p:nvSpPr>
        <p:spPr>
          <a:xfrm>
            <a:off x="8492028" y="4402345"/>
            <a:ext cx="1253169" cy="350470"/>
          </a:xfrm>
          <a:prstGeom prst="rect">
            <a:avLst/>
          </a:prstGeom>
          <a:noFill/>
          <a:ln/>
        </p:spPr>
        <p:txBody>
          <a:bodyPr wrap="square" lIns="0" tIns="0" rIns="0" bIns="0" rtlCol="0" anchor="t">
            <a:normAutofit/>
          </a:bodyPr>
          <a:lstStyle/>
          <a:p>
            <a:pPr marL="0" indent="0" algn="l">
              <a:lnSpc>
                <a:spcPts val="2573"/>
              </a:lnSpc>
              <a:buNone/>
            </a:pPr>
            <a:r>
              <a:rPr lang="en-US" sz="1838" b="1" dirty="0">
                <a:solidFill>
                  <a:srgbClr val="F6F8FB"/>
                </a:solidFill>
                <a:latin typeface="Source Sans 3" pitchFamily="34" charset="0"/>
                <a:ea typeface="Source Sans 3" pitchFamily="34" charset="-122"/>
                <a:cs typeface="Source Sans 3" pitchFamily="34" charset="-120"/>
              </a:rPr>
              <a:t>9</a:t>
            </a:r>
            <a:endParaRPr lang="en-US" sz="1838" dirty="0"/>
          </a:p>
        </p:txBody>
      </p:sp>
      <p:sp>
        <p:nvSpPr>
          <p:cNvPr id="20" name="Text 18"/>
          <p:cNvSpPr/>
          <p:nvPr/>
        </p:nvSpPr>
        <p:spPr>
          <a:xfrm>
            <a:off x="8492028" y="4727414"/>
            <a:ext cx="1253169" cy="220587"/>
          </a:xfrm>
          <a:prstGeom prst="rect">
            <a:avLst/>
          </a:prstGeom>
          <a:noFill/>
          <a:ln/>
        </p:spPr>
        <p:txBody>
          <a:bodyPr wrap="square" lIns="0" tIns="0" rIns="0" bIns="0" rtlCol="0" anchor="t">
            <a:normAutofit/>
          </a:bodyPr>
          <a:lstStyle/>
          <a:p>
            <a:pPr marL="0" indent="0" algn="l">
              <a:lnSpc>
                <a:spcPts val="1575"/>
              </a:lnSpc>
              <a:buNone/>
            </a:pPr>
            <a:r>
              <a:rPr lang="en-US" sz="1125" dirty="0">
                <a:solidFill>
                  <a:srgbClr val="F6F8FB"/>
                </a:solidFill>
                <a:latin typeface="Source Sans 3" pitchFamily="34" charset="0"/>
                <a:ea typeface="Source Sans 3" pitchFamily="34" charset="-122"/>
                <a:cs typeface="Source Sans 3" pitchFamily="34" charset="-120"/>
              </a:rPr>
              <a:t>élevés</a:t>
            </a:r>
            <a:endParaRPr lang="en-US" sz="1125" dirty="0"/>
          </a:p>
        </p:txBody>
      </p:sp>
      <p:sp>
        <p:nvSpPr>
          <p:cNvPr id="21" name="Shape 19"/>
          <p:cNvSpPr/>
          <p:nvPr/>
        </p:nvSpPr>
        <p:spPr>
          <a:xfrm>
            <a:off x="9922915" y="4313492"/>
            <a:ext cx="1456338" cy="697963"/>
          </a:xfrm>
          <a:prstGeom prst="rect">
            <a:avLst/>
          </a:prstGeom>
          <a:solidFill>
            <a:srgbClr val="DBEAF9"/>
          </a:solidFill>
          <a:ln/>
        </p:spPr>
      </p:sp>
      <p:sp>
        <p:nvSpPr>
          <p:cNvPr id="22" name="Text 20"/>
          <p:cNvSpPr/>
          <p:nvPr/>
        </p:nvSpPr>
        <p:spPr>
          <a:xfrm>
            <a:off x="10049900" y="4402345"/>
            <a:ext cx="1253169" cy="350470"/>
          </a:xfrm>
          <a:prstGeom prst="rect">
            <a:avLst/>
          </a:prstGeom>
          <a:noFill/>
          <a:ln/>
        </p:spPr>
        <p:txBody>
          <a:bodyPr wrap="square" lIns="0" tIns="0" rIns="0" bIns="0" rtlCol="0" anchor="t">
            <a:normAutofit/>
          </a:bodyPr>
          <a:lstStyle/>
          <a:p>
            <a:pPr marL="0" indent="0" algn="l">
              <a:lnSpc>
                <a:spcPts val="2573"/>
              </a:lnSpc>
              <a:buNone/>
            </a:pPr>
            <a:r>
              <a:rPr lang="en-US" sz="1838" b="1" dirty="0">
                <a:solidFill>
                  <a:srgbClr val="033A70"/>
                </a:solidFill>
                <a:latin typeface="Source Sans 3" pitchFamily="34" charset="0"/>
                <a:ea typeface="Source Sans 3" pitchFamily="34" charset="-122"/>
                <a:cs typeface="Source Sans 3" pitchFamily="34" charset="-120"/>
              </a:rPr>
              <a:t>3</a:t>
            </a:r>
            <a:endParaRPr lang="en-US" sz="1838" dirty="0"/>
          </a:p>
        </p:txBody>
      </p:sp>
      <p:sp>
        <p:nvSpPr>
          <p:cNvPr id="23" name="Text 21"/>
          <p:cNvSpPr/>
          <p:nvPr/>
        </p:nvSpPr>
        <p:spPr>
          <a:xfrm>
            <a:off x="10049900" y="4727414"/>
            <a:ext cx="1253169" cy="220587"/>
          </a:xfrm>
          <a:prstGeom prst="rect">
            <a:avLst/>
          </a:prstGeom>
          <a:noFill/>
          <a:ln/>
        </p:spPr>
        <p:txBody>
          <a:bodyPr wrap="square" lIns="0" tIns="0" rIns="0" bIns="0" rtlCol="0" anchor="t">
            <a:normAutofit/>
          </a:bodyPr>
          <a:lstStyle/>
          <a:p>
            <a:pPr marL="0" indent="0" algn="l">
              <a:lnSpc>
                <a:spcPts val="1575"/>
              </a:lnSpc>
              <a:buNone/>
            </a:pPr>
            <a:r>
              <a:rPr lang="en-US" sz="1125" dirty="0">
                <a:solidFill>
                  <a:srgbClr val="033A70"/>
                </a:solidFill>
                <a:latin typeface="Source Sans 3" pitchFamily="34" charset="0"/>
                <a:ea typeface="Source Sans 3" pitchFamily="34" charset="-122"/>
                <a:cs typeface="Source Sans 3" pitchFamily="34" charset="-120"/>
              </a:rPr>
              <a:t>moyens</a:t>
            </a:r>
            <a:endParaRPr lang="en-US" sz="1125" dirty="0"/>
          </a:p>
        </p:txBody>
      </p:sp>
      <p:sp>
        <p:nvSpPr>
          <p:cNvPr id="24" name="Shape 22"/>
          <p:cNvSpPr/>
          <p:nvPr/>
        </p:nvSpPr>
        <p:spPr>
          <a:xfrm>
            <a:off x="812720" y="5189252"/>
            <a:ext cx="10566533" cy="652766"/>
          </a:xfrm>
          <a:prstGeom prst="rect">
            <a:avLst/>
          </a:prstGeom>
          <a:solidFill>
            <a:srgbClr val="033A70"/>
          </a:solidFill>
          <a:ln/>
        </p:spPr>
      </p:sp>
      <p:pic>
        <p:nvPicPr>
          <p:cNvPr id="25" name="Image 0" descr="Warning"/>
          <p:cNvPicPr>
            <a:picLocks noChangeAspect="1"/>
          </p:cNvPicPr>
          <p:nvPr/>
        </p:nvPicPr>
        <p:blipFill>
          <a:blip r:embed="rId3"/>
          <a:srcRect l="-577" r="-577"/>
          <a:stretch/>
        </p:blipFill>
        <p:spPr>
          <a:xfrm>
            <a:off x="990516" y="5388604"/>
            <a:ext cx="141295" cy="253969"/>
          </a:xfrm>
          <a:prstGeom prst="rect">
            <a:avLst/>
          </a:prstGeom>
        </p:spPr>
      </p:pic>
      <p:sp>
        <p:nvSpPr>
          <p:cNvPr id="26" name="Text 23"/>
          <p:cNvSpPr/>
          <p:nvPr/>
        </p:nvSpPr>
        <p:spPr>
          <a:xfrm>
            <a:off x="1233345" y="5302287"/>
            <a:ext cx="10267155" cy="4521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Avant toute promotion :</a:t>
            </a:r>
            <a:r>
              <a:rPr lang="en-US" sz="1200" dirty="0">
                <a:solidFill>
                  <a:srgbClr val="F6F8FB"/>
                </a:solidFill>
                <a:latin typeface="Source Sans 3" pitchFamily="34" charset="0"/>
                <a:ea typeface="Source Sans 3" pitchFamily="34" charset="-122"/>
                <a:cs typeface="Source Sans 3" pitchFamily="34" charset="-120"/>
              </a:rPr>
              <a:t> fermer le paiement public du site actuel par un drapeau serveur et corriger ses allégations, avec relecture juridique de chaque publication. Les risques critiques se ferment par des preuves datées et un responsable nommé, jamais par un simple avertissement.</a:t>
            </a:r>
            <a:endParaRPr lang="en-US" sz="1200" dirty="0"/>
          </a:p>
        </p:txBody>
      </p:sp>
      <p:sp>
        <p:nvSpPr>
          <p:cNvPr id="27" name="Text 24"/>
          <p:cNvSpPr/>
          <p:nvPr/>
        </p:nvSpPr>
        <p:spPr>
          <a:xfrm>
            <a:off x="812720" y="6238280"/>
            <a:ext cx="10883342"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B"/>
                </a:solidFill>
                <a:latin typeface="Source Sans 3" pitchFamily="34" charset="0"/>
                <a:ea typeface="Source Sans 3" pitchFamily="34" charset="-122"/>
                <a:cs typeface="Source Sans 3" pitchFamily="34" charset="-120"/>
              </a:rPr>
              <a:t>Sources : documentation juridique propriétaires (README, cadre 11, analyse 12) · registre des risques · note stratégique §7 · 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BEAF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20" y="812719"/>
            <a:ext cx="10883529" cy="835855"/>
          </a:xfrm>
          <a:prstGeom prst="rect">
            <a:avLst/>
          </a:prstGeom>
          <a:noFill/>
          <a:ln/>
        </p:spPr>
        <p:txBody>
          <a:bodyPr wrap="square" lIns="0" tIns="0" rIns="0" bIns="0" rtlCol="0" anchor="t">
            <a:normAutofit/>
          </a:bodyPr>
          <a:lstStyle/>
          <a:p>
            <a:pPr marL="0" indent="0" algn="l">
              <a:lnSpc>
                <a:spcPts val="3212"/>
              </a:lnSpc>
              <a:buNone/>
            </a:pPr>
            <a:r>
              <a:rPr lang="en-US" sz="2920" b="1" i="0" dirty="0">
                <a:solidFill>
                  <a:srgbClr val="033A70"/>
                </a:solidFill>
                <a:latin typeface="Source Sans 3" pitchFamily="34" charset="0"/>
                <a:ea typeface="Source Sans 3" pitchFamily="34" charset="-122"/>
                <a:cs typeface="Source Sans 3" pitchFamily="34" charset="-120"/>
              </a:rPr>
              <a:t>Modèle financier : vente à l’acte, contribution positive dès le premier pack</a:t>
            </a:r>
            <a:endParaRPr lang="en-US" sz="2920" dirty="0"/>
          </a:p>
        </p:txBody>
      </p:sp>
      <p:sp>
        <p:nvSpPr>
          <p:cNvPr id="3" name="Shape 1"/>
          <p:cNvSpPr/>
          <p:nvPr/>
        </p:nvSpPr>
        <p:spPr>
          <a:xfrm>
            <a:off x="812720" y="1800972"/>
            <a:ext cx="10566533" cy="1412953"/>
          </a:xfrm>
          <a:prstGeom prst="rect">
            <a:avLst/>
          </a:prstGeom>
          <a:solidFill>
            <a:srgbClr val="F6F8FB"/>
          </a:solidFill>
          <a:ln/>
        </p:spPr>
      </p:sp>
      <p:sp>
        <p:nvSpPr>
          <p:cNvPr id="4" name="Shape 2"/>
          <p:cNvSpPr/>
          <p:nvPr/>
        </p:nvSpPr>
        <p:spPr>
          <a:xfrm>
            <a:off x="11376078" y="1800972"/>
            <a:ext cx="0" cy="1412953"/>
          </a:xfrm>
          <a:prstGeom prst="line">
            <a:avLst/>
          </a:prstGeom>
          <a:noFill/>
          <a:ln w="6350">
            <a:solidFill>
              <a:srgbClr val="C9D6E4"/>
            </a:solidFill>
            <a:prstDash val="solid"/>
          </a:ln>
        </p:spPr>
      </p:sp>
      <p:sp>
        <p:nvSpPr>
          <p:cNvPr id="5" name="Shape 3"/>
          <p:cNvSpPr/>
          <p:nvPr/>
        </p:nvSpPr>
        <p:spPr>
          <a:xfrm>
            <a:off x="812720" y="3210750"/>
            <a:ext cx="10566533" cy="0"/>
          </a:xfrm>
          <a:prstGeom prst="line">
            <a:avLst/>
          </a:prstGeom>
          <a:noFill/>
          <a:ln w="6350">
            <a:solidFill>
              <a:srgbClr val="C9D6E4"/>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4313" y="1812566"/>
          <a:ext cx="10549143" cy="1395563"/>
        </p:xfrm>
        <a:graphic>
          <a:graphicData uri="http://schemas.openxmlformats.org/drawingml/2006/table">
            <a:tbl>
              <a:tblPr/>
              <a:tblGrid>
                <a:gridCol w="1476880">
                  <a:extLst>
                    <a:ext uri="{9D8B030D-6E8A-4147-A177-3AD203B41FA5}">
                      <a16:colId xmlns:a16="http://schemas.microsoft.com/office/drawing/2014/main" val="20000"/>
                    </a:ext>
                  </a:extLst>
                </a:gridCol>
                <a:gridCol w="1476880">
                  <a:extLst>
                    <a:ext uri="{9D8B030D-6E8A-4147-A177-3AD203B41FA5}">
                      <a16:colId xmlns:a16="http://schemas.microsoft.com/office/drawing/2014/main" val="20001"/>
                    </a:ext>
                  </a:extLst>
                </a:gridCol>
                <a:gridCol w="1476880">
                  <a:extLst>
                    <a:ext uri="{9D8B030D-6E8A-4147-A177-3AD203B41FA5}">
                      <a16:colId xmlns:a16="http://schemas.microsoft.com/office/drawing/2014/main" val="20002"/>
                    </a:ext>
                  </a:extLst>
                </a:gridCol>
                <a:gridCol w="1687863">
                  <a:extLst>
                    <a:ext uri="{9D8B030D-6E8A-4147-A177-3AD203B41FA5}">
                      <a16:colId xmlns:a16="http://schemas.microsoft.com/office/drawing/2014/main" val="20003"/>
                    </a:ext>
                  </a:extLst>
                </a:gridCol>
                <a:gridCol w="1476880">
                  <a:extLst>
                    <a:ext uri="{9D8B030D-6E8A-4147-A177-3AD203B41FA5}">
                      <a16:colId xmlns:a16="http://schemas.microsoft.com/office/drawing/2014/main" val="20004"/>
                    </a:ext>
                  </a:extLst>
                </a:gridCol>
                <a:gridCol w="1476880">
                  <a:extLst>
                    <a:ext uri="{9D8B030D-6E8A-4147-A177-3AD203B41FA5}">
                      <a16:colId xmlns:a16="http://schemas.microsoft.com/office/drawing/2014/main" val="20005"/>
                    </a:ext>
                  </a:extLst>
                </a:gridCol>
                <a:gridCol w="1476880">
                  <a:extLst>
                    <a:ext uri="{9D8B030D-6E8A-4147-A177-3AD203B41FA5}">
                      <a16:colId xmlns:a16="http://schemas.microsoft.com/office/drawing/2014/main" val="20006"/>
                    </a:ext>
                  </a:extLst>
                </a:gridCol>
              </a:tblGrid>
              <a:tr h="348891">
                <a:tc>
                  <a:txBody>
                    <a:bodyPr/>
                    <a:lstStyle/>
                    <a:p>
                      <a:pPr marL="0" indent="0">
                        <a:lnSpc>
                          <a:spcPts val="1622"/>
                        </a:lnSpc>
                        <a:buNone/>
                      </a:pPr>
                      <a:r>
                        <a:rPr lang="en-US" sz="1159" b="1" dirty="0">
                          <a:solidFill>
                            <a:srgbClr val="F6F8FB"/>
                          </a:solidFill>
                          <a:latin typeface="Source Sans 3" pitchFamily="34" charset="0"/>
                          <a:ea typeface="Source Sans 3" pitchFamily="34" charset="-122"/>
                          <a:cs typeface="Source Sans 3" pitchFamily="34" charset="-120"/>
                        </a:rPr>
                        <a:t>Pack par bail, TTC</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22"/>
                        </a:lnSpc>
                        <a:buNone/>
                      </a:pPr>
                      <a:r>
                        <a:rPr lang="en-US" sz="1159" b="1" dirty="0">
                          <a:solidFill>
                            <a:srgbClr val="F6F8FB"/>
                          </a:solidFill>
                          <a:latin typeface="Source Sans 3" pitchFamily="34" charset="0"/>
                          <a:ea typeface="Source Sans 3" pitchFamily="34" charset="-122"/>
                          <a:cs typeface="Source Sans 3" pitchFamily="34" charset="-120"/>
                        </a:rPr>
                        <a:t>Prix HT</a:t>
                      </a:r>
                      <a:endParaRPr lang="en-US" sz="1159" dirty="0">
                        <a:latin typeface="Source Sans 3" charset="0"/>
                        <a:ea typeface="Source Sans 3" charset="0"/>
                        <a:cs typeface="Source Sans 3" charset="0"/>
                      </a:endParaRPr>
                    </a:p>
                  </a:txBody>
                  <a:tcPr marL="51506" marR="51506" marT="51506" marB="51506">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22"/>
                        </a:lnSpc>
                        <a:buNone/>
                      </a:pPr>
                      <a:r>
                        <a:rPr lang="en-US" sz="1159" b="1" dirty="0">
                          <a:solidFill>
                            <a:srgbClr val="F6F8FB"/>
                          </a:solidFill>
                          <a:latin typeface="Source Sans 3" pitchFamily="34" charset="0"/>
                          <a:ea typeface="Source Sans 3" pitchFamily="34" charset="-122"/>
                          <a:cs typeface="Source Sans 3" pitchFamily="34" charset="-120"/>
                        </a:rPr>
                        <a:t>Paiement</a:t>
                      </a:r>
                      <a:endParaRPr lang="en-US" sz="1159" dirty="0">
                        <a:latin typeface="Source Sans 3" charset="0"/>
                        <a:ea typeface="Source Sans 3" charset="0"/>
                        <a:cs typeface="Source Sans 3" charset="0"/>
                      </a:endParaRPr>
                    </a:p>
                  </a:txBody>
                  <a:tcPr marL="51506" marR="51506" marT="51506" marB="51506">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22"/>
                        </a:lnSpc>
                        <a:buNone/>
                      </a:pPr>
                      <a:r>
                        <a:rPr lang="en-US" sz="1159" b="1" dirty="0">
                          <a:solidFill>
                            <a:srgbClr val="F6F8FB"/>
                          </a:solidFill>
                          <a:latin typeface="Source Sans 3" pitchFamily="34" charset="0"/>
                          <a:ea typeface="Source Sans 3" pitchFamily="34" charset="-122"/>
                          <a:cs typeface="Source Sans 3" pitchFamily="34" charset="-120"/>
                        </a:rPr>
                        <a:t>Coûts directs</a:t>
                      </a:r>
                      <a:endParaRPr lang="en-US" sz="1159" dirty="0">
                        <a:latin typeface="Source Sans 3" charset="0"/>
                        <a:ea typeface="Source Sans 3" charset="0"/>
                        <a:cs typeface="Source Sans 3" charset="0"/>
                      </a:endParaRPr>
                    </a:p>
                  </a:txBody>
                  <a:tcPr marL="51506" marR="51506" marT="51506" marB="51506">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22"/>
                        </a:lnSpc>
                        <a:buNone/>
                      </a:pPr>
                      <a:r>
                        <a:rPr lang="en-US" sz="1159" b="1" dirty="0">
                          <a:solidFill>
                            <a:srgbClr val="F6F8FB"/>
                          </a:solidFill>
                          <a:latin typeface="Source Sans 3" pitchFamily="34" charset="0"/>
                          <a:ea typeface="Source Sans 3" pitchFamily="34" charset="-122"/>
                          <a:cs typeface="Source Sans 3" pitchFamily="34" charset="-120"/>
                        </a:rPr>
                        <a:t>Part du HT</a:t>
                      </a:r>
                      <a:endParaRPr lang="en-US" sz="1159" dirty="0">
                        <a:latin typeface="Source Sans 3" charset="0"/>
                        <a:ea typeface="Source Sans 3" charset="0"/>
                        <a:cs typeface="Source Sans 3" charset="0"/>
                      </a:endParaRPr>
                    </a:p>
                  </a:txBody>
                  <a:tcPr marL="51506" marR="51506" marT="51506" marB="51506">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22"/>
                        </a:lnSpc>
                        <a:buNone/>
                      </a:pPr>
                      <a:r>
                        <a:rPr lang="en-US" sz="1159" b="1" dirty="0">
                          <a:solidFill>
                            <a:srgbClr val="F6F8FB"/>
                          </a:solidFill>
                          <a:latin typeface="Source Sans 3" pitchFamily="34" charset="0"/>
                          <a:ea typeface="Source Sans 3" pitchFamily="34" charset="-122"/>
                          <a:cs typeface="Source Sans 3" pitchFamily="34" charset="-120"/>
                        </a:rPr>
                        <a:t>Contribution directe</a:t>
                      </a:r>
                      <a:endParaRPr lang="en-US" sz="1159" dirty="0">
                        <a:latin typeface="Source Sans 3" charset="0"/>
                        <a:ea typeface="Source Sans 3" charset="0"/>
                        <a:cs typeface="Source Sans 3" charset="0"/>
                      </a:endParaRPr>
                    </a:p>
                  </a:txBody>
                  <a:tcPr marL="51506" marR="51506" marT="51506" marB="51506">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22"/>
                        </a:lnSpc>
                        <a:buNone/>
                      </a:pPr>
                      <a:r>
                        <a:rPr lang="en-US" sz="1159" b="1" dirty="0">
                          <a:solidFill>
                            <a:srgbClr val="F6F8FB"/>
                          </a:solidFill>
                          <a:latin typeface="Source Sans 3" pitchFamily="34" charset="0"/>
                          <a:ea typeface="Source Sans 3" pitchFamily="34" charset="-122"/>
                          <a:cs typeface="Source Sans 3" pitchFamily="34" charset="-120"/>
                        </a:rPr>
                        <a:t>Via prescripteur</a:t>
                      </a:r>
                      <a:endParaRPr lang="en-US" sz="1159" dirty="0">
                        <a:latin typeface="Source Sans 3" charset="0"/>
                        <a:ea typeface="Source Sans 3" charset="0"/>
                        <a:cs typeface="Source Sans 3" charset="0"/>
                      </a:endParaRPr>
                    </a:p>
                  </a:txBody>
                  <a:tcPr marL="51506" marR="51506" marT="51506" marB="51506">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extLst>
                  <a:ext uri="{0D108BD9-81ED-4DB2-BD59-A6C34878D82A}">
                    <a16:rowId xmlns:a16="http://schemas.microsoft.com/office/drawing/2014/main" val="10000"/>
                  </a:ext>
                </a:extLst>
              </a:tr>
              <a:tr h="348891">
                <a:tc>
                  <a:txBody>
                    <a:bodyPr/>
                    <a:lstStyle/>
                    <a:p>
                      <a:pPr marL="0" indent="0">
                        <a:lnSpc>
                          <a:spcPts val="1622"/>
                        </a:lnSpc>
                        <a:buNone/>
                      </a:pPr>
                      <a:r>
                        <a:rPr lang="en-US" sz="1159" dirty="0">
                          <a:solidFill>
                            <a:srgbClr val="22354A"/>
                          </a:solidFill>
                          <a:latin typeface="Source Sans 3" pitchFamily="34" charset="0"/>
                          <a:ea typeface="Source Sans 3" pitchFamily="34" charset="-122"/>
                          <a:cs typeface="Source Sans 3" pitchFamily="34" charset="-120"/>
                        </a:rPr>
                        <a:t>49 €</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40,83</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1,23</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10,84</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29,6 %</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28,77</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20,60</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1"/>
                  </a:ext>
                </a:extLst>
              </a:tr>
              <a:tr h="348891">
                <a:tc>
                  <a:txBody>
                    <a:bodyPr/>
                    <a:lstStyle/>
                    <a:p>
                      <a:pPr marL="0" indent="0">
                        <a:lnSpc>
                          <a:spcPts val="1622"/>
                        </a:lnSpc>
                        <a:buNone/>
                      </a:pPr>
                      <a:r>
                        <a:rPr lang="en-US" sz="1159" dirty="0">
                          <a:solidFill>
                            <a:srgbClr val="22354A"/>
                          </a:solidFill>
                          <a:latin typeface="Source Sans 3" pitchFamily="34" charset="0"/>
                          <a:ea typeface="Source Sans 3" pitchFamily="34" charset="-122"/>
                          <a:cs typeface="Source Sans 3" pitchFamily="34" charset="-120"/>
                        </a:rPr>
                        <a:t>69 €, cas central</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57,50</a:t>
                      </a:r>
                      <a:endParaRPr lang="en-US" sz="1159" dirty="0">
                        <a:latin typeface="Source Sans 3" charset="0"/>
                        <a:ea typeface="Source Sans 3" charset="0"/>
                        <a:cs typeface="Source Sans 3" charset="0"/>
                      </a:endParaRPr>
                    </a:p>
                  </a:txBody>
                  <a:tcPr marL="51506" marR="51506" marT="51506" marB="51506">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1,63</a:t>
                      </a:r>
                      <a:endParaRPr lang="en-US" sz="1159" dirty="0">
                        <a:latin typeface="Source Sans 3" charset="0"/>
                        <a:ea typeface="Source Sans 3" charset="0"/>
                        <a:cs typeface="Source Sans 3" charset="0"/>
                      </a:endParaRPr>
                    </a:p>
                  </a:txBody>
                  <a:tcPr marL="51506" marR="51506" marT="51506" marB="51506">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10,84</a:t>
                      </a:r>
                      <a:endParaRPr lang="en-US" sz="1159" dirty="0">
                        <a:latin typeface="Source Sans 3" charset="0"/>
                        <a:ea typeface="Source Sans 3" charset="0"/>
                        <a:cs typeface="Source Sans 3" charset="0"/>
                      </a:endParaRPr>
                    </a:p>
                  </a:txBody>
                  <a:tcPr marL="51506" marR="51506" marT="51506" marB="51506">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21,7 %</a:t>
                      </a:r>
                      <a:endParaRPr lang="en-US" sz="1159" dirty="0">
                        <a:latin typeface="Source Sans 3" charset="0"/>
                        <a:ea typeface="Source Sans 3" charset="0"/>
                        <a:cs typeface="Source Sans 3" charset="0"/>
                      </a:endParaRPr>
                    </a:p>
                  </a:txBody>
                  <a:tcPr marL="51506" marR="51506" marT="51506" marB="51506">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45,03</a:t>
                      </a:r>
                      <a:endParaRPr lang="en-US" sz="1159" dirty="0">
                        <a:latin typeface="Source Sans 3" charset="0"/>
                        <a:ea typeface="Source Sans 3" charset="0"/>
                        <a:cs typeface="Source Sans 3" charset="0"/>
                      </a:endParaRPr>
                    </a:p>
                  </a:txBody>
                  <a:tcPr marL="51506" marR="51506" marT="51506" marB="51506">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33,53</a:t>
                      </a:r>
                      <a:endParaRPr lang="en-US" sz="1159" dirty="0">
                        <a:latin typeface="Source Sans 3" charset="0"/>
                        <a:ea typeface="Source Sans 3" charset="0"/>
                        <a:cs typeface="Source Sans 3" charset="0"/>
                      </a:endParaRPr>
                    </a:p>
                  </a:txBody>
                  <a:tcPr marL="51506" marR="51506" marT="51506" marB="51506">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extLst>
                  <a:ext uri="{0D108BD9-81ED-4DB2-BD59-A6C34878D82A}">
                    <a16:rowId xmlns:a16="http://schemas.microsoft.com/office/drawing/2014/main" val="10002"/>
                  </a:ext>
                </a:extLst>
              </a:tr>
              <a:tr h="348891">
                <a:tc>
                  <a:txBody>
                    <a:bodyPr/>
                    <a:lstStyle/>
                    <a:p>
                      <a:pPr marL="0" indent="0">
                        <a:lnSpc>
                          <a:spcPts val="1622"/>
                        </a:lnSpc>
                        <a:buNone/>
                      </a:pPr>
                      <a:r>
                        <a:rPr lang="en-US" sz="1159" dirty="0">
                          <a:solidFill>
                            <a:srgbClr val="22354A"/>
                          </a:solidFill>
                          <a:latin typeface="Source Sans 3" pitchFamily="34" charset="0"/>
                          <a:ea typeface="Source Sans 3" pitchFamily="34" charset="-122"/>
                          <a:cs typeface="Source Sans 3" pitchFamily="34" charset="-120"/>
                        </a:rPr>
                        <a:t>89 €</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74,17</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2,03</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10,84</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17,3 %</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61,30</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22"/>
                        </a:lnSpc>
                        <a:buNone/>
                      </a:pPr>
                      <a:r>
                        <a:rPr lang="en-US" sz="1159" dirty="0">
                          <a:solidFill>
                            <a:srgbClr val="22354A"/>
                          </a:solidFill>
                          <a:latin typeface="Source Sans 3" pitchFamily="34" charset="0"/>
                          <a:ea typeface="Source Sans 3" pitchFamily="34" charset="-122"/>
                          <a:cs typeface="Source Sans 3" pitchFamily="34" charset="-120"/>
                        </a:rPr>
                        <a:t>46,47</a:t>
                      </a:r>
                      <a:endParaRPr lang="en-US" sz="1159" dirty="0">
                        <a:latin typeface="Source Sans 3" charset="0"/>
                        <a:ea typeface="Source Sans 3" charset="0"/>
                        <a:cs typeface="Source Sans 3" charset="0"/>
                      </a:endParaRPr>
                    </a:p>
                  </a:txBody>
                  <a:tcPr marL="51506" marR="51506" marT="51506" marB="51506">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812720" y="3391722"/>
            <a:ext cx="2527374" cy="1438223"/>
          </a:xfrm>
          <a:prstGeom prst="rect">
            <a:avLst/>
          </a:prstGeom>
          <a:solidFill>
            <a:srgbClr val="F6F8FB"/>
          </a:solidFill>
          <a:ln/>
        </p:spPr>
      </p:sp>
      <p:sp>
        <p:nvSpPr>
          <p:cNvPr id="8" name="Shape 5"/>
          <p:cNvSpPr/>
          <p:nvPr/>
        </p:nvSpPr>
        <p:spPr>
          <a:xfrm>
            <a:off x="812720" y="3410772"/>
            <a:ext cx="2527374" cy="0"/>
          </a:xfrm>
          <a:prstGeom prst="line">
            <a:avLst/>
          </a:prstGeom>
          <a:noFill/>
          <a:ln w="38100">
            <a:solidFill>
              <a:srgbClr val="0380A5"/>
            </a:solidFill>
            <a:prstDash val="solid"/>
          </a:ln>
        </p:spPr>
      </p:sp>
      <p:sp>
        <p:nvSpPr>
          <p:cNvPr id="9" name="Text 6"/>
          <p:cNvSpPr/>
          <p:nvPr/>
        </p:nvSpPr>
        <p:spPr>
          <a:xfrm>
            <a:off x="990516" y="3578848"/>
            <a:ext cx="2236935" cy="380903"/>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33A70"/>
                </a:solidFill>
                <a:latin typeface="Source Sans 3" pitchFamily="34" charset="0"/>
                <a:ea typeface="Source Sans 3" pitchFamily="34" charset="-122"/>
                <a:cs typeface="Source Sans 3" pitchFamily="34" charset="-120"/>
              </a:rPr>
              <a:t>23 packs</a:t>
            </a:r>
            <a:endParaRPr lang="en-US" sz="2000" dirty="0"/>
          </a:p>
        </p:txBody>
      </p:sp>
      <p:sp>
        <p:nvSpPr>
          <p:cNvPr id="10" name="Text 7"/>
          <p:cNvSpPr/>
          <p:nvPr/>
        </p:nvSpPr>
        <p:spPr>
          <a:xfrm>
            <a:off x="990516" y="3972390"/>
            <a:ext cx="2236935" cy="66557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54A"/>
                </a:solidFill>
                <a:latin typeface="Source Sans 3" pitchFamily="34" charset="0"/>
                <a:ea typeface="Source Sans 3" pitchFamily="34" charset="-122"/>
                <a:cs typeface="Source Sans 3" pitchFamily="34" charset="-120"/>
              </a:rPr>
              <a:t>à 69 € en vente directe par tranche de 1 000 € de frais fixes mensuels ; 30 via les prescripteurs</a:t>
            </a:r>
            <a:endParaRPr lang="en-US" sz="1200" dirty="0"/>
          </a:p>
        </p:txBody>
      </p:sp>
      <p:sp>
        <p:nvSpPr>
          <p:cNvPr id="11" name="Shape 8"/>
          <p:cNvSpPr/>
          <p:nvPr/>
        </p:nvSpPr>
        <p:spPr>
          <a:xfrm>
            <a:off x="3492439" y="3391722"/>
            <a:ext cx="2527374" cy="1438223"/>
          </a:xfrm>
          <a:prstGeom prst="rect">
            <a:avLst/>
          </a:prstGeom>
          <a:solidFill>
            <a:srgbClr val="F6F8FB"/>
          </a:solidFill>
          <a:ln/>
        </p:spPr>
      </p:sp>
      <p:sp>
        <p:nvSpPr>
          <p:cNvPr id="12" name="Shape 9"/>
          <p:cNvSpPr/>
          <p:nvPr/>
        </p:nvSpPr>
        <p:spPr>
          <a:xfrm>
            <a:off x="3492439" y="3410772"/>
            <a:ext cx="2527374" cy="0"/>
          </a:xfrm>
          <a:prstGeom prst="line">
            <a:avLst/>
          </a:prstGeom>
          <a:noFill/>
          <a:ln w="38100">
            <a:solidFill>
              <a:srgbClr val="033A70"/>
            </a:solidFill>
            <a:prstDash val="solid"/>
          </a:ln>
        </p:spPr>
      </p:sp>
      <p:sp>
        <p:nvSpPr>
          <p:cNvPr id="13" name="Text 10"/>
          <p:cNvSpPr/>
          <p:nvPr/>
        </p:nvSpPr>
        <p:spPr>
          <a:xfrm>
            <a:off x="3670236" y="3578848"/>
            <a:ext cx="2236935" cy="337337"/>
          </a:xfrm>
          <a:prstGeom prst="rect">
            <a:avLst/>
          </a:prstGeom>
          <a:noFill/>
          <a:ln/>
        </p:spPr>
        <p:txBody>
          <a:bodyPr wrap="square" lIns="0" tIns="0" rIns="0" bIns="0" rtlCol="0" anchor="t">
            <a:normAutofit/>
          </a:bodyPr>
          <a:lstStyle/>
          <a:p>
            <a:pPr marL="0" indent="0" algn="l">
              <a:lnSpc>
                <a:spcPts val="2467"/>
              </a:lnSpc>
              <a:buNone/>
            </a:pPr>
            <a:r>
              <a:rPr lang="en-US" sz="1763" b="1" dirty="0">
                <a:solidFill>
                  <a:srgbClr val="033A70"/>
                </a:solidFill>
                <a:latin typeface="Source Sans 3" pitchFamily="34" charset="0"/>
                <a:ea typeface="Source Sans 3" pitchFamily="34" charset="-122"/>
                <a:cs typeface="Source Sans 3" pitchFamily="34" charset="-120"/>
              </a:rPr>
              <a:t>10,84 €</a:t>
            </a:r>
            <a:endParaRPr lang="en-US" sz="1763" dirty="0"/>
          </a:p>
        </p:txBody>
      </p:sp>
      <p:sp>
        <p:nvSpPr>
          <p:cNvPr id="14" name="Text 11"/>
          <p:cNvSpPr/>
          <p:nvPr/>
        </p:nvSpPr>
        <p:spPr>
          <a:xfrm>
            <a:off x="3670236" y="3928824"/>
            <a:ext cx="2236935" cy="774174"/>
          </a:xfrm>
          <a:prstGeom prst="rect">
            <a:avLst/>
          </a:prstGeom>
          <a:noFill/>
          <a:ln/>
        </p:spPr>
        <p:txBody>
          <a:bodyPr wrap="square" lIns="0" tIns="0" rIns="0" bIns="0" rtlCol="0" anchor="t">
            <a:normAutofit/>
          </a:bodyPr>
          <a:lstStyle/>
          <a:p>
            <a:pPr marL="0" indent="0" algn="l">
              <a:lnSpc>
                <a:spcPts val="1523"/>
              </a:lnSpc>
              <a:buNone/>
            </a:pPr>
            <a:r>
              <a:rPr lang="en-US" sz="1088" dirty="0">
                <a:solidFill>
                  <a:srgbClr val="22354A"/>
                </a:solidFill>
                <a:latin typeface="Source Sans 3" pitchFamily="34" charset="0"/>
                <a:ea typeface="Source Sans 3" pitchFamily="34" charset="-122"/>
                <a:cs typeface="Source Sans 3" pitchFamily="34" charset="-120"/>
              </a:rPr>
              <a:t>de coûts directs par pack : IA 0,90, stockage et vidéo 2,10, signature 2,00, contrôle humain 5,83 (dix minutes)</a:t>
            </a:r>
            <a:endParaRPr lang="en-US" sz="1088" dirty="0"/>
          </a:p>
        </p:txBody>
      </p:sp>
      <p:sp>
        <p:nvSpPr>
          <p:cNvPr id="15" name="Shape 12"/>
          <p:cNvSpPr/>
          <p:nvPr/>
        </p:nvSpPr>
        <p:spPr>
          <a:xfrm>
            <a:off x="6172159" y="3391722"/>
            <a:ext cx="2527374" cy="1438223"/>
          </a:xfrm>
          <a:prstGeom prst="rect">
            <a:avLst/>
          </a:prstGeom>
          <a:solidFill>
            <a:srgbClr val="F6F8FB"/>
          </a:solidFill>
          <a:ln/>
        </p:spPr>
      </p:sp>
      <p:sp>
        <p:nvSpPr>
          <p:cNvPr id="16" name="Shape 13"/>
          <p:cNvSpPr/>
          <p:nvPr/>
        </p:nvSpPr>
        <p:spPr>
          <a:xfrm>
            <a:off x="6172159" y="3410772"/>
            <a:ext cx="2527374" cy="0"/>
          </a:xfrm>
          <a:prstGeom prst="line">
            <a:avLst/>
          </a:prstGeom>
          <a:noFill/>
          <a:ln w="38100">
            <a:solidFill>
              <a:srgbClr val="033A70"/>
            </a:solidFill>
            <a:prstDash val="solid"/>
          </a:ln>
        </p:spPr>
      </p:sp>
      <p:sp>
        <p:nvSpPr>
          <p:cNvPr id="17" name="Text 14"/>
          <p:cNvSpPr/>
          <p:nvPr/>
        </p:nvSpPr>
        <p:spPr>
          <a:xfrm>
            <a:off x="6349955" y="3578848"/>
            <a:ext cx="2236935" cy="337337"/>
          </a:xfrm>
          <a:prstGeom prst="rect">
            <a:avLst/>
          </a:prstGeom>
          <a:noFill/>
          <a:ln/>
        </p:spPr>
        <p:txBody>
          <a:bodyPr wrap="square" lIns="0" tIns="0" rIns="0" bIns="0" rtlCol="0" anchor="t">
            <a:normAutofit/>
          </a:bodyPr>
          <a:lstStyle/>
          <a:p>
            <a:pPr marL="0" indent="0" algn="l">
              <a:lnSpc>
                <a:spcPts val="2467"/>
              </a:lnSpc>
              <a:buNone/>
            </a:pPr>
            <a:r>
              <a:rPr lang="en-US" sz="1763" b="1" dirty="0">
                <a:solidFill>
                  <a:srgbClr val="033A70"/>
                </a:solidFill>
                <a:latin typeface="Source Sans 3" pitchFamily="34" charset="0"/>
                <a:ea typeface="Source Sans 3" pitchFamily="34" charset="-122"/>
                <a:cs typeface="Source Sans 3" pitchFamily="34" charset="-120"/>
              </a:rPr>
              <a:t>13 à 22 k€</a:t>
            </a:r>
            <a:endParaRPr lang="en-US" sz="1763" dirty="0"/>
          </a:p>
        </p:txBody>
      </p:sp>
      <p:sp>
        <p:nvSpPr>
          <p:cNvPr id="18" name="Text 15"/>
          <p:cNvSpPr/>
          <p:nvPr/>
        </p:nvSpPr>
        <p:spPr>
          <a:xfrm>
            <a:off x="6349955" y="3928824"/>
            <a:ext cx="2236935" cy="774174"/>
          </a:xfrm>
          <a:prstGeom prst="rect">
            <a:avLst/>
          </a:prstGeom>
          <a:noFill/>
          <a:ln/>
        </p:spPr>
        <p:txBody>
          <a:bodyPr wrap="square" lIns="0" tIns="0" rIns="0" bIns="0" rtlCol="0" anchor="t">
            <a:normAutofit/>
          </a:bodyPr>
          <a:lstStyle/>
          <a:p>
            <a:pPr marL="0" indent="0" algn="l">
              <a:lnSpc>
                <a:spcPts val="1480"/>
              </a:lnSpc>
              <a:buNone/>
            </a:pPr>
            <a:r>
              <a:rPr lang="en-US" sz="1058" dirty="0">
                <a:solidFill>
                  <a:srgbClr val="22354A"/>
                </a:solidFill>
                <a:latin typeface="Source Sans 3" pitchFamily="34" charset="0"/>
                <a:ea typeface="Source Sans 3" pitchFamily="34" charset="-122"/>
                <a:cs typeface="Source Sans 3" pitchFamily="34" charset="-120"/>
              </a:rPr>
              <a:t>de dépenses sur douze mois, hors assurance, DPO et temps d’équipe ; signature et commissions comptées par bail</a:t>
            </a:r>
            <a:endParaRPr lang="en-US" sz="1058" dirty="0"/>
          </a:p>
        </p:txBody>
      </p:sp>
      <p:sp>
        <p:nvSpPr>
          <p:cNvPr id="19" name="Shape 16"/>
          <p:cNvSpPr/>
          <p:nvPr/>
        </p:nvSpPr>
        <p:spPr>
          <a:xfrm>
            <a:off x="8851878" y="3391722"/>
            <a:ext cx="2527374" cy="1438223"/>
          </a:xfrm>
          <a:prstGeom prst="rect">
            <a:avLst/>
          </a:prstGeom>
          <a:solidFill>
            <a:srgbClr val="F6F8FB"/>
          </a:solidFill>
          <a:ln/>
        </p:spPr>
      </p:sp>
      <p:sp>
        <p:nvSpPr>
          <p:cNvPr id="20" name="Shape 17"/>
          <p:cNvSpPr/>
          <p:nvPr/>
        </p:nvSpPr>
        <p:spPr>
          <a:xfrm>
            <a:off x="8851878" y="3410772"/>
            <a:ext cx="2527374" cy="0"/>
          </a:xfrm>
          <a:prstGeom prst="line">
            <a:avLst/>
          </a:prstGeom>
          <a:noFill/>
          <a:ln w="38100">
            <a:solidFill>
              <a:srgbClr val="033A70"/>
            </a:solidFill>
            <a:prstDash val="solid"/>
          </a:ln>
        </p:spPr>
      </p:sp>
      <p:sp>
        <p:nvSpPr>
          <p:cNvPr id="21" name="Text 18"/>
          <p:cNvSpPr/>
          <p:nvPr/>
        </p:nvSpPr>
        <p:spPr>
          <a:xfrm>
            <a:off x="9029675" y="3578848"/>
            <a:ext cx="2236935" cy="337337"/>
          </a:xfrm>
          <a:prstGeom prst="rect">
            <a:avLst/>
          </a:prstGeom>
          <a:noFill/>
          <a:ln/>
        </p:spPr>
        <p:txBody>
          <a:bodyPr wrap="square" lIns="0" tIns="0" rIns="0" bIns="0" rtlCol="0" anchor="t">
            <a:normAutofit/>
          </a:bodyPr>
          <a:lstStyle/>
          <a:p>
            <a:pPr marL="0" indent="0" algn="l">
              <a:lnSpc>
                <a:spcPts val="2467"/>
              </a:lnSpc>
              <a:buNone/>
            </a:pPr>
            <a:r>
              <a:rPr lang="en-US" sz="1763" b="1" dirty="0">
                <a:solidFill>
                  <a:srgbClr val="033A70"/>
                </a:solidFill>
                <a:latin typeface="Source Sans 3" pitchFamily="34" charset="0"/>
                <a:ea typeface="Source Sans 3" pitchFamily="34" charset="-122"/>
                <a:cs typeface="Source Sans 3" pitchFamily="34" charset="-120"/>
              </a:rPr>
              <a:t>0 %</a:t>
            </a:r>
            <a:endParaRPr lang="en-US" sz="1763" dirty="0"/>
          </a:p>
        </p:txBody>
      </p:sp>
      <p:sp>
        <p:nvSpPr>
          <p:cNvPr id="22" name="Text 19"/>
          <p:cNvSpPr/>
          <p:nvPr/>
        </p:nvSpPr>
        <p:spPr>
          <a:xfrm>
            <a:off x="9029675" y="3928824"/>
            <a:ext cx="2236935" cy="774174"/>
          </a:xfrm>
          <a:prstGeom prst="rect">
            <a:avLst/>
          </a:prstGeom>
          <a:noFill/>
          <a:ln/>
        </p:spPr>
        <p:txBody>
          <a:bodyPr wrap="square" lIns="0" tIns="0" rIns="0" bIns="0" rtlCol="0" anchor="t">
            <a:normAutofit/>
          </a:bodyPr>
          <a:lstStyle/>
          <a:p>
            <a:pPr marL="0" indent="0" algn="l">
              <a:lnSpc>
                <a:spcPts val="1480"/>
              </a:lnSpc>
              <a:buNone/>
            </a:pPr>
            <a:r>
              <a:rPr lang="en-US" sz="1058" dirty="0">
                <a:solidFill>
                  <a:srgbClr val="22354A"/>
                </a:solidFill>
                <a:latin typeface="Source Sans 3" pitchFamily="34" charset="0"/>
                <a:ea typeface="Source Sans 3" pitchFamily="34" charset="-122"/>
                <a:cs typeface="Source Sans 3" pitchFamily="34" charset="-120"/>
              </a:rPr>
              <a:t>de commission au recouvrement ; aucun encaissement de loyers ni de dépôts : Tenu ne détient pas de fonds pour autrui</a:t>
            </a:r>
            <a:endParaRPr lang="en-US" sz="1058" dirty="0"/>
          </a:p>
        </p:txBody>
      </p:sp>
      <p:sp>
        <p:nvSpPr>
          <p:cNvPr id="23" name="Shape 20"/>
          <p:cNvSpPr/>
          <p:nvPr/>
        </p:nvSpPr>
        <p:spPr>
          <a:xfrm>
            <a:off x="812720" y="5007741"/>
            <a:ext cx="10566533" cy="834276"/>
          </a:xfrm>
          <a:prstGeom prst="rect">
            <a:avLst/>
          </a:prstGeom>
          <a:solidFill>
            <a:srgbClr val="033A70"/>
          </a:solidFill>
          <a:ln/>
        </p:spPr>
      </p:sp>
      <p:pic>
        <p:nvPicPr>
          <p:cNvPr id="24" name="Image 0" descr="Chart"/>
          <p:cNvPicPr>
            <a:picLocks noChangeAspect="1"/>
          </p:cNvPicPr>
          <p:nvPr/>
        </p:nvPicPr>
        <p:blipFill>
          <a:blip r:embed="rId3"/>
          <a:srcRect l="-1236" r="-1236"/>
          <a:stretch/>
        </p:blipFill>
        <p:spPr>
          <a:xfrm>
            <a:off x="990516" y="5297850"/>
            <a:ext cx="117112" cy="253969"/>
          </a:xfrm>
          <a:prstGeom prst="rect">
            <a:avLst/>
          </a:prstGeom>
        </p:spPr>
      </p:pic>
      <p:sp>
        <p:nvSpPr>
          <p:cNvPr id="25" name="Text 21"/>
          <p:cNvSpPr/>
          <p:nvPr/>
        </p:nvSpPr>
        <p:spPr>
          <a:xfrm>
            <a:off x="1209162" y="5104836"/>
            <a:ext cx="10292064" cy="66557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Ce que la Finance tranche avant la vente :</a:t>
            </a:r>
            <a:r>
              <a:rPr lang="en-US" sz="1200" dirty="0">
                <a:solidFill>
                  <a:srgbClr val="F6F8FB"/>
                </a:solidFill>
                <a:latin typeface="Source Sans 3" pitchFamily="34" charset="0"/>
                <a:ea typeface="Source Sans 3" pitchFamily="34" charset="-122"/>
                <a:cs typeface="Source Sans 3" pitchFamily="34" charset="-120"/>
              </a:rPr>
              <a:t> le prix définitif entre 49 et 89 €, les lots et les volumes. Trois logiques coexistent, forfaits 29, 49 et 89 € du Marketing, pack unique de la note stratégique, grille dégressive par élément vérifié demandée par la Direction ; la réconciliation passe par un test de disposition à payer auprès de 20 propriétaires.</a:t>
            </a:r>
            <a:endParaRPr lang="en-US" sz="1200" dirty="0"/>
          </a:p>
        </p:txBody>
      </p:sp>
      <p:sp>
        <p:nvSpPr>
          <p:cNvPr id="26" name="Text 22"/>
          <p:cNvSpPr/>
          <p:nvPr/>
        </p:nvSpPr>
        <p:spPr>
          <a:xfrm>
            <a:off x="812720" y="6238280"/>
            <a:ext cx="10883342"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B"/>
                </a:solidFill>
                <a:latin typeface="Source Sans 3" pitchFamily="34" charset="0"/>
                <a:ea typeface="Source Sans 3" pitchFamily="34" charset="-122"/>
                <a:cs typeface="Source Sans 3" pitchFamily="34" charset="-120"/>
              </a:rPr>
              <a:t>Sources : note stratégique §4 et §6 · hypothèses économiques V4.1 §3 · guide financier et hypothèses propriétaires · 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20" y="812719"/>
            <a:ext cx="10883529" cy="821092"/>
          </a:xfrm>
          <a:prstGeom prst="rect">
            <a:avLst/>
          </a:prstGeom>
          <a:noFill/>
          <a:ln/>
        </p:spPr>
        <p:txBody>
          <a:bodyPr wrap="square" lIns="0" tIns="0" rIns="0" bIns="0" rtlCol="0" anchor="t">
            <a:normAutofit/>
          </a:bodyPr>
          <a:lstStyle/>
          <a:p>
            <a:pPr marL="0" indent="0" algn="l">
              <a:lnSpc>
                <a:spcPts val="3135"/>
              </a:lnSpc>
              <a:buNone/>
            </a:pPr>
            <a:r>
              <a:rPr lang="en-US" sz="2850" b="1" i="0" dirty="0">
                <a:solidFill>
                  <a:srgbClr val="033A70"/>
                </a:solidFill>
                <a:latin typeface="Source Sans 3" pitchFamily="34" charset="0"/>
                <a:ea typeface="Source Sans 3" pitchFamily="34" charset="-122"/>
                <a:cs typeface="Source Sans 3" pitchFamily="34" charset="-120"/>
              </a:rPr>
              <a:t>Lancement : atteindre les propriétaires par les cabinets de relocation, les écoles en parallèle</a:t>
            </a:r>
            <a:endParaRPr lang="en-US" sz="2850" dirty="0"/>
          </a:p>
        </p:txBody>
      </p:sp>
      <p:sp>
        <p:nvSpPr>
          <p:cNvPr id="3" name="Text 1"/>
          <p:cNvSpPr/>
          <p:nvPr/>
        </p:nvSpPr>
        <p:spPr>
          <a:xfrm>
            <a:off x="812720" y="1786207"/>
            <a:ext cx="6043679" cy="238702"/>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Canaux, par priorité</a:t>
            </a:r>
            <a:endParaRPr lang="en-US" sz="1400" dirty="0"/>
          </a:p>
        </p:txBody>
      </p:sp>
      <p:sp>
        <p:nvSpPr>
          <p:cNvPr id="4" name="Shape 2"/>
          <p:cNvSpPr/>
          <p:nvPr/>
        </p:nvSpPr>
        <p:spPr>
          <a:xfrm>
            <a:off x="6677194" y="2101044"/>
            <a:ext cx="0" cy="3500138"/>
          </a:xfrm>
          <a:prstGeom prst="line">
            <a:avLst/>
          </a:prstGeom>
          <a:noFill/>
          <a:ln w="6350">
            <a:solidFill>
              <a:srgbClr val="C9D6E4"/>
            </a:solidFill>
            <a:prstDash val="solid"/>
          </a:ln>
        </p:spPr>
      </p:sp>
      <p:sp>
        <p:nvSpPr>
          <p:cNvPr id="5" name="Shape 3"/>
          <p:cNvSpPr/>
          <p:nvPr/>
        </p:nvSpPr>
        <p:spPr>
          <a:xfrm>
            <a:off x="812720" y="5598007"/>
            <a:ext cx="5867650" cy="0"/>
          </a:xfrm>
          <a:prstGeom prst="line">
            <a:avLst/>
          </a:prstGeom>
          <a:noFill/>
          <a:ln w="6350">
            <a:solidFill>
              <a:srgbClr val="C9D6E4"/>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4313" y="2112637"/>
          <a:ext cx="5850259" cy="3482750"/>
        </p:xfrm>
        <a:graphic>
          <a:graphicData uri="http://schemas.openxmlformats.org/drawingml/2006/table">
            <a:tbl>
              <a:tblPr/>
              <a:tblGrid>
                <a:gridCol w="2574114">
                  <a:extLst>
                    <a:ext uri="{9D8B030D-6E8A-4147-A177-3AD203B41FA5}">
                      <a16:colId xmlns:a16="http://schemas.microsoft.com/office/drawing/2014/main" val="20000"/>
                    </a:ext>
                  </a:extLst>
                </a:gridCol>
                <a:gridCol w="2574114">
                  <a:extLst>
                    <a:ext uri="{9D8B030D-6E8A-4147-A177-3AD203B41FA5}">
                      <a16:colId xmlns:a16="http://schemas.microsoft.com/office/drawing/2014/main" val="20001"/>
                    </a:ext>
                  </a:extLst>
                </a:gridCol>
                <a:gridCol w="702031">
                  <a:extLst>
                    <a:ext uri="{9D8B030D-6E8A-4147-A177-3AD203B41FA5}">
                      <a16:colId xmlns:a16="http://schemas.microsoft.com/office/drawing/2014/main" val="20002"/>
                    </a:ext>
                  </a:extLst>
                </a:gridCol>
              </a:tblGrid>
              <a:tr h="331501">
                <a:tc>
                  <a:txBody>
                    <a:bodyPr/>
                    <a:lstStyle/>
                    <a:p>
                      <a:pPr marL="0" indent="0">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Canal</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Action</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Rang</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extLst>
                  <a:ext uri="{0D108BD9-81ED-4DB2-BD59-A6C34878D82A}">
                    <a16:rowId xmlns:a16="http://schemas.microsoft.com/office/drawing/2014/main" val="10000"/>
                  </a:ext>
                </a:extLst>
              </a:tr>
              <a:tr h="758285">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Cabinets de relocation indépendants d’Île-de-France (42 à 52)</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Prospection directe des dirigeants, démonstration, test sur 5 à 10 missions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1"/>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Services logement d’INSEAD et de HEC</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Tenu recommandé aux propriétaires de leurs listes</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extLst>
                  <a:ext uri="{0D108BD9-81ED-4DB2-BD59-A6C34878D82A}">
                    <a16:rowId xmlns:a16="http://schemas.microsoft.com/office/drawing/2014/main" val="10002"/>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Réseaux de la relocation : SNPRM, EuRA, Cercle Magellan</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Événements, présentation aux adhérents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2</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3"/>
                  </a:ext>
                </a:extLst>
              </a:tr>
              <a:tr h="758285">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Locataires, alumni, parrainage entre propriétaires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Chaque locataire recommande Tenu ; un dossier offert par propriétaire recommandé</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2</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extLst>
                  <a:ext uri="{0D108BD9-81ED-4DB2-BD59-A6C34878D82A}">
                    <a16:rowId xmlns:a16="http://schemas.microsoft.com/office/drawing/2014/main" val="10004"/>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RH mobilité des grandes entreprises, écoles internationales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Une fois des cabinets partenaires référencés ; associations de parents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3</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AFBBC6"/>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812720" y="5702712"/>
            <a:ext cx="6043679" cy="66557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54A"/>
                </a:solidFill>
                <a:latin typeface="Source Sans 3" pitchFamily="34" charset="0"/>
                <a:ea typeface="Source Sans 3" pitchFamily="34" charset="-122"/>
                <a:cs typeface="Source Sans 3" pitchFamily="34" charset="-120"/>
              </a:rPr>
              <a:t>Règle de prospection :</a:t>
            </a:r>
            <a:r>
              <a:rPr lang="en-US" sz="1200" dirty="0">
                <a:solidFill>
                  <a:srgbClr val="22354A"/>
                </a:solidFill>
                <a:latin typeface="Source Sans 3" pitchFamily="34" charset="0"/>
                <a:ea typeface="Source Sans 3" pitchFamily="34" charset="-122"/>
                <a:cs typeface="Source Sans 3" pitchFamily="34" charset="-120"/>
              </a:rPr>
              <a:t> les cabinets sont des entreprises et se démarchent directement ; les propriétaires sont des consommateurs, donc aucune prospection par e-mail sans consentement.</a:t>
            </a:r>
            <a:endParaRPr lang="en-US" sz="1200" dirty="0"/>
          </a:p>
        </p:txBody>
      </p:sp>
      <p:sp>
        <p:nvSpPr>
          <p:cNvPr id="8" name="Text 5"/>
          <p:cNvSpPr/>
          <p:nvPr/>
        </p:nvSpPr>
        <p:spPr>
          <a:xfrm>
            <a:off x="6934339" y="1786207"/>
            <a:ext cx="4578262" cy="238702"/>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Pourquoi ce canal</a:t>
            </a:r>
            <a:endParaRPr lang="en-US" sz="1400" dirty="0"/>
          </a:p>
        </p:txBody>
      </p:sp>
      <p:sp>
        <p:nvSpPr>
          <p:cNvPr id="9" name="Text 6"/>
          <p:cNvSpPr/>
          <p:nvPr/>
        </p:nvSpPr>
        <p:spPr>
          <a:xfrm>
            <a:off x="6934339" y="2101044"/>
            <a:ext cx="4444914" cy="1320930"/>
          </a:xfrm>
          <a:prstGeom prst="rect">
            <a:avLst/>
          </a:prstGeom>
          <a:solidFill>
            <a:srgbClr val="033A70"/>
          </a:solidFill>
          <a:ln/>
        </p:spPr>
        <p:txBody>
          <a:bodyPr wrap="square" lIns="152345" tIns="127000" rIns="28139" bIns="101569" rtlCol="0" anchor="t">
            <a:normAutofit/>
          </a:bodyPr>
          <a:lstStyle/>
          <a:p>
            <a:pPr marL="0" indent="0" algn="l">
              <a:lnSpc>
                <a:spcPts val="1680"/>
              </a:lnSpc>
              <a:buNone/>
            </a:pPr>
            <a:r>
              <a:rPr lang="en-US" sz="1200" dirty="0">
                <a:solidFill>
                  <a:srgbClr val="C9DBEE"/>
                </a:solidFill>
                <a:latin typeface="Source Sans 3" pitchFamily="34" charset="0"/>
                <a:ea typeface="Source Sans 3" pitchFamily="34" charset="-122"/>
                <a:cs typeface="Source Sans 3" pitchFamily="34" charset="-120"/>
              </a:rPr>
              <a:t>Peu de comptes donnent accès à beaucoup de propriétaires. Les locataires sont solvables, souvent sans historique en France, et repartiront à l’étranger. Le cabinet a intérêt à rassurer le propriétaire pour boucler sa mission. Tenu ne cherche pas de logement et n’intervient qu’une fois le logement trouvé.</a:t>
            </a:r>
            <a:endParaRPr lang="en-US" sz="1200" dirty="0"/>
          </a:p>
        </p:txBody>
      </p:sp>
      <p:sp>
        <p:nvSpPr>
          <p:cNvPr id="10" name="Text 7"/>
          <p:cNvSpPr/>
          <p:nvPr/>
        </p:nvSpPr>
        <p:spPr>
          <a:xfrm>
            <a:off x="6934339" y="3523506"/>
            <a:ext cx="4578262" cy="238702"/>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Deux options partenaires</a:t>
            </a:r>
            <a:endParaRPr lang="en-US" sz="1400" dirty="0"/>
          </a:p>
        </p:txBody>
      </p:sp>
      <p:sp>
        <p:nvSpPr>
          <p:cNvPr id="11" name="Shape 8"/>
          <p:cNvSpPr/>
          <p:nvPr/>
        </p:nvSpPr>
        <p:spPr>
          <a:xfrm>
            <a:off x="6934339" y="3838342"/>
            <a:ext cx="2171691" cy="1976685"/>
          </a:xfrm>
          <a:prstGeom prst="rect">
            <a:avLst/>
          </a:prstGeom>
          <a:solidFill>
            <a:srgbClr val="DBEAF9"/>
          </a:solidFill>
          <a:ln/>
        </p:spPr>
      </p:sp>
      <p:sp>
        <p:nvSpPr>
          <p:cNvPr id="12" name="Shape 9"/>
          <p:cNvSpPr/>
          <p:nvPr/>
        </p:nvSpPr>
        <p:spPr>
          <a:xfrm>
            <a:off x="6934339" y="3851042"/>
            <a:ext cx="2171691" cy="0"/>
          </a:xfrm>
          <a:prstGeom prst="line">
            <a:avLst/>
          </a:prstGeom>
          <a:noFill/>
          <a:ln w="25400">
            <a:solidFill>
              <a:srgbClr val="0380A5"/>
            </a:solidFill>
            <a:prstDash val="solid"/>
          </a:ln>
        </p:spPr>
      </p:sp>
      <p:sp>
        <p:nvSpPr>
          <p:cNvPr id="13" name="Text 10"/>
          <p:cNvSpPr/>
          <p:nvPr/>
        </p:nvSpPr>
        <p:spPr>
          <a:xfrm>
            <a:off x="7086684" y="3988513"/>
            <a:ext cx="1923010" cy="4521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33A70"/>
                </a:solidFill>
                <a:latin typeface="Source Sans 3" pitchFamily="34" charset="0"/>
                <a:ea typeface="Source Sans 3" pitchFamily="34" charset="-122"/>
                <a:cs typeface="Source Sans 3" pitchFamily="34" charset="-120"/>
              </a:rPr>
              <a:t>A · Recommandation, le propriétaire paie</a:t>
            </a:r>
            <a:endParaRPr lang="en-US" sz="1200" dirty="0"/>
          </a:p>
        </p:txBody>
      </p:sp>
      <p:sp>
        <p:nvSpPr>
          <p:cNvPr id="14" name="Text 11"/>
          <p:cNvSpPr/>
          <p:nvPr/>
        </p:nvSpPr>
        <p:spPr>
          <a:xfrm>
            <a:off x="7086684" y="4453337"/>
            <a:ext cx="1923010" cy="126010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2354A"/>
                </a:solidFill>
                <a:latin typeface="Source Sans 3" pitchFamily="34" charset="0"/>
                <a:ea typeface="Source Sans 3" pitchFamily="34" charset="-122"/>
                <a:cs typeface="Source Sans 3" pitchFamily="34" charset="-120"/>
              </a:rPr>
              <a:t>Code partenaire à −10 % pour le propriétaire ; commission au cabinet, par exemple 10 %. Recommandée pour démarrer.</a:t>
            </a:r>
            <a:endParaRPr lang="en-US" sz="1200" dirty="0"/>
          </a:p>
        </p:txBody>
      </p:sp>
      <p:sp>
        <p:nvSpPr>
          <p:cNvPr id="15" name="Shape 12"/>
          <p:cNvSpPr/>
          <p:nvPr/>
        </p:nvSpPr>
        <p:spPr>
          <a:xfrm>
            <a:off x="9207562" y="3838342"/>
            <a:ext cx="2171691" cy="1976685"/>
          </a:xfrm>
          <a:prstGeom prst="rect">
            <a:avLst/>
          </a:prstGeom>
          <a:solidFill>
            <a:srgbClr val="DBEAF9"/>
          </a:solidFill>
          <a:ln/>
        </p:spPr>
      </p:sp>
      <p:sp>
        <p:nvSpPr>
          <p:cNvPr id="16" name="Shape 13"/>
          <p:cNvSpPr/>
          <p:nvPr/>
        </p:nvSpPr>
        <p:spPr>
          <a:xfrm>
            <a:off x="9207562" y="3851042"/>
            <a:ext cx="2171691" cy="0"/>
          </a:xfrm>
          <a:prstGeom prst="line">
            <a:avLst/>
          </a:prstGeom>
          <a:noFill/>
          <a:ln w="25400">
            <a:solidFill>
              <a:srgbClr val="296297"/>
            </a:solidFill>
            <a:prstDash val="solid"/>
          </a:ln>
        </p:spPr>
      </p:sp>
      <p:sp>
        <p:nvSpPr>
          <p:cNvPr id="17" name="Text 14"/>
          <p:cNvSpPr/>
          <p:nvPr/>
        </p:nvSpPr>
        <p:spPr>
          <a:xfrm>
            <a:off x="9359908" y="3988513"/>
            <a:ext cx="1923010" cy="4521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33A70"/>
                </a:solidFill>
                <a:latin typeface="Source Sans 3" pitchFamily="34" charset="0"/>
                <a:ea typeface="Source Sans 3" pitchFamily="34" charset="-122"/>
                <a:cs typeface="Source Sans 3" pitchFamily="34" charset="-120"/>
              </a:rPr>
              <a:t>B · Dossier inclus, le cabinet ou l’employeur paie</a:t>
            </a:r>
            <a:endParaRPr lang="en-US" sz="1200" dirty="0"/>
          </a:p>
        </p:txBody>
      </p:sp>
      <p:sp>
        <p:nvSpPr>
          <p:cNvPr id="18" name="Text 15"/>
          <p:cNvSpPr/>
          <p:nvPr/>
        </p:nvSpPr>
        <p:spPr>
          <a:xfrm>
            <a:off x="9359908" y="4453337"/>
            <a:ext cx="1923010" cy="126010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2354A"/>
                </a:solidFill>
                <a:latin typeface="Source Sans 3" pitchFamily="34" charset="0"/>
                <a:ea typeface="Source Sans 3" pitchFamily="34" charset="-122"/>
                <a:cs typeface="Source Sans 3" pitchFamily="34" charset="-120"/>
              </a:rPr>
              <a:t>Par exemple 79 € HT par dossier, par lots. Hors du périmètre juridique actuel ; proposée aux cabinets les plus actifs dès qu’un volume est atteint.</a:t>
            </a:r>
            <a:endParaRPr lang="en-US" sz="1200" dirty="0"/>
          </a:p>
        </p:txBody>
      </p:sp>
      <p:sp>
        <p:nvSpPr>
          <p:cNvPr id="19" name="Text 16"/>
          <p:cNvSpPr/>
          <p:nvPr/>
        </p:nvSpPr>
        <p:spPr>
          <a:xfrm>
            <a:off x="812720" y="6238277"/>
            <a:ext cx="10883342"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B"/>
                </a:solidFill>
                <a:latin typeface="Source Sans 3" pitchFamily="34" charset="0"/>
                <a:ea typeface="Source Sans 3" pitchFamily="34" charset="-122"/>
                <a:cs typeface="Source Sans 3" pitchFamily="34" charset="-120"/>
              </a:rPr>
              <a:t>Sources : plan GTM v4.1 §3, §5 et §6 · 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20" y="812719"/>
            <a:ext cx="10883529" cy="719921"/>
          </a:xfrm>
          <a:prstGeom prst="rect">
            <a:avLst/>
          </a:prstGeom>
          <a:noFill/>
          <a:ln/>
        </p:spPr>
        <p:txBody>
          <a:bodyPr wrap="square" lIns="0" tIns="0" rIns="0" bIns="0" rtlCol="0" anchor="t">
            <a:normAutofit/>
          </a:bodyPr>
          <a:lstStyle/>
          <a:p>
            <a:pPr marL="0" indent="0" algn="l">
              <a:lnSpc>
                <a:spcPts val="2728"/>
              </a:lnSpc>
              <a:buNone/>
            </a:pPr>
            <a:r>
              <a:rPr lang="en-US" sz="2480" b="1" i="0" dirty="0">
                <a:solidFill>
                  <a:srgbClr val="033A70"/>
                </a:solidFill>
                <a:latin typeface="Source Sans 3" pitchFamily="34" charset="0"/>
                <a:ea typeface="Source Sans 3" pitchFamily="34" charset="-122"/>
                <a:cs typeface="Source Sans 3" pitchFamily="34" charset="-120"/>
              </a:rPr>
              <a:t>Développement commercial : quatre phases, des preuves avant chaque accélération</a:t>
            </a:r>
            <a:endParaRPr lang="en-US" sz="2480" dirty="0"/>
          </a:p>
        </p:txBody>
      </p:sp>
      <p:sp>
        <p:nvSpPr>
          <p:cNvPr id="3" name="Shape 1"/>
          <p:cNvSpPr/>
          <p:nvPr/>
        </p:nvSpPr>
        <p:spPr>
          <a:xfrm>
            <a:off x="812720" y="1659589"/>
            <a:ext cx="2470222" cy="1749163"/>
          </a:xfrm>
          <a:prstGeom prst="rect">
            <a:avLst/>
          </a:prstGeom>
          <a:solidFill>
            <a:srgbClr val="DBEAF9"/>
          </a:solidFill>
          <a:ln/>
        </p:spPr>
      </p:sp>
      <p:sp>
        <p:nvSpPr>
          <p:cNvPr id="5" name="Text 3"/>
          <p:cNvSpPr/>
          <p:nvPr/>
        </p:nvSpPr>
        <p:spPr>
          <a:xfrm>
            <a:off x="965065" y="1815554"/>
            <a:ext cx="2230498" cy="181368"/>
          </a:xfrm>
          <a:prstGeom prst="rect">
            <a:avLst/>
          </a:prstGeom>
          <a:noFill/>
          <a:ln/>
        </p:spPr>
        <p:txBody>
          <a:bodyPr wrap="square" lIns="0" tIns="0" rIns="0" bIns="0" rtlCol="0" anchor="t">
            <a:normAutofit/>
          </a:bodyPr>
          <a:lstStyle/>
          <a:p>
            <a:pPr marL="0" indent="0" algn="l">
              <a:lnSpc>
                <a:spcPts val="1270"/>
              </a:lnSpc>
              <a:buNone/>
            </a:pPr>
            <a:r>
              <a:rPr lang="en-US" sz="907" kern="0" spc="100" dirty="0">
                <a:solidFill>
                  <a:srgbClr val="296297"/>
                </a:solidFill>
                <a:latin typeface="Source Sans 3" pitchFamily="34" charset="0"/>
                <a:ea typeface="Source Sans 3" pitchFamily="34" charset="-122"/>
                <a:cs typeface="Source Sans 3" pitchFamily="34" charset="-120"/>
              </a:rPr>
              <a:t>PHASE 0</a:t>
            </a:r>
            <a:endParaRPr lang="en-US" sz="907" dirty="0"/>
          </a:p>
        </p:txBody>
      </p:sp>
      <p:sp>
        <p:nvSpPr>
          <p:cNvPr id="6" name="Text 4"/>
          <p:cNvSpPr/>
          <p:nvPr/>
        </p:nvSpPr>
        <p:spPr>
          <a:xfrm>
            <a:off x="965065" y="2022246"/>
            <a:ext cx="2230498" cy="181368"/>
          </a:xfrm>
          <a:prstGeom prst="rect">
            <a:avLst/>
          </a:prstGeom>
          <a:noFill/>
          <a:ln/>
        </p:spPr>
        <p:txBody>
          <a:bodyPr wrap="square" lIns="0" tIns="0" rIns="0" bIns="0" rtlCol="0" anchor="t">
            <a:normAutofit/>
          </a:bodyPr>
          <a:lstStyle/>
          <a:p>
            <a:pPr marL="0" indent="0" algn="l">
              <a:lnSpc>
                <a:spcPts val="1271"/>
              </a:lnSpc>
              <a:buNone/>
            </a:pPr>
            <a:r>
              <a:rPr lang="en-US" sz="1059" b="1" dirty="0">
                <a:solidFill>
                  <a:srgbClr val="033A70"/>
                </a:solidFill>
                <a:latin typeface="Source Sans 3" pitchFamily="34" charset="0"/>
                <a:ea typeface="Source Sans 3" pitchFamily="34" charset="-122"/>
                <a:cs typeface="Source Sans 3" pitchFamily="34" charset="-120"/>
              </a:rPr>
              <a:t>Préparation</a:t>
            </a:r>
            <a:endParaRPr lang="en-US" sz="1059" dirty="0"/>
          </a:p>
        </p:txBody>
      </p:sp>
      <p:sp>
        <p:nvSpPr>
          <p:cNvPr id="7" name="Text 5"/>
          <p:cNvSpPr/>
          <p:nvPr/>
        </p:nvSpPr>
        <p:spPr>
          <a:xfrm>
            <a:off x="965065" y="2228937"/>
            <a:ext cx="2230498" cy="1078231"/>
          </a:xfrm>
          <a:prstGeom prst="rect">
            <a:avLst/>
          </a:prstGeom>
          <a:noFill/>
          <a:ln/>
        </p:spPr>
        <p:txBody>
          <a:bodyPr wrap="square" lIns="0" tIns="0" rIns="0" bIns="0" rtlCol="0" anchor="t">
            <a:normAutofit/>
          </a:bodyPr>
          <a:lstStyle/>
          <a:p>
            <a:pPr marL="0" indent="0" algn="l">
              <a:lnSpc>
                <a:spcPts val="1392"/>
              </a:lnSpc>
              <a:buNone/>
            </a:pPr>
            <a:r>
              <a:rPr lang="en-US" sz="1031" dirty="0">
                <a:solidFill>
                  <a:srgbClr val="22354A"/>
                </a:solidFill>
                <a:latin typeface="Source Sans 3" pitchFamily="34" charset="0"/>
                <a:ea typeface="Source Sans 3" pitchFamily="34" charset="-122"/>
                <a:cs typeface="Source Sans 3" pitchFamily="34" charset="-120"/>
              </a:rPr>
              <a:t>5 entretiens de cabinets, 10 entretiens de propriétaires, services logement des écoles, validation juridique, test de prix. Passage : au moins 20 % de locations en direct et 2 cabinets prêts à tester.</a:t>
            </a:r>
            <a:endParaRPr lang="en-US" sz="1031" dirty="0"/>
          </a:p>
        </p:txBody>
      </p:sp>
      <p:pic>
        <p:nvPicPr>
          <p:cNvPr id="8" name="Image 0" descr="connector"/>
          <p:cNvPicPr>
            <a:picLocks noChangeAspect="1"/>
          </p:cNvPicPr>
          <p:nvPr/>
        </p:nvPicPr>
        <p:blipFill>
          <a:blip r:embed="rId3"/>
          <a:srcRect l="-15" r="-15"/>
          <a:stretch/>
        </p:blipFill>
        <p:spPr>
          <a:xfrm>
            <a:off x="3282942" y="2483358"/>
            <a:ext cx="228518" cy="101533"/>
          </a:xfrm>
          <a:prstGeom prst="rect">
            <a:avLst/>
          </a:prstGeom>
        </p:spPr>
      </p:pic>
      <p:sp>
        <p:nvSpPr>
          <p:cNvPr id="9" name="Shape 6"/>
          <p:cNvSpPr/>
          <p:nvPr/>
        </p:nvSpPr>
        <p:spPr>
          <a:xfrm>
            <a:off x="3511460" y="1659589"/>
            <a:ext cx="2470313" cy="1749163"/>
          </a:xfrm>
          <a:prstGeom prst="rect">
            <a:avLst/>
          </a:prstGeom>
          <a:solidFill>
            <a:srgbClr val="DBEAF9"/>
          </a:solidFill>
          <a:ln/>
        </p:spPr>
      </p:sp>
      <p:sp>
        <p:nvSpPr>
          <p:cNvPr id="11" name="Text 8"/>
          <p:cNvSpPr/>
          <p:nvPr/>
        </p:nvSpPr>
        <p:spPr>
          <a:xfrm>
            <a:off x="3663805" y="1815554"/>
            <a:ext cx="2230591" cy="225478"/>
          </a:xfrm>
          <a:prstGeom prst="rect">
            <a:avLst/>
          </a:prstGeom>
          <a:noFill/>
          <a:ln/>
        </p:spPr>
        <p:txBody>
          <a:bodyPr wrap="square" lIns="0" tIns="0" rIns="0" bIns="0" rtlCol="0" anchor="t">
            <a:normAutofit/>
          </a:bodyPr>
          <a:lstStyle/>
          <a:p>
            <a:pPr marL="0" indent="0" algn="l">
              <a:lnSpc>
                <a:spcPts val="1622"/>
              </a:lnSpc>
              <a:buNone/>
            </a:pPr>
            <a:r>
              <a:rPr lang="en-US" sz="1159" kern="0" spc="100" dirty="0">
                <a:solidFill>
                  <a:srgbClr val="296297"/>
                </a:solidFill>
                <a:latin typeface="Source Sans 3" pitchFamily="34" charset="0"/>
                <a:ea typeface="Source Sans 3" pitchFamily="34" charset="-122"/>
                <a:cs typeface="Source Sans 3" pitchFamily="34" charset="-120"/>
              </a:rPr>
              <a:t>PHASE 1</a:t>
            </a:r>
            <a:endParaRPr lang="en-US" sz="1159" dirty="0"/>
          </a:p>
        </p:txBody>
      </p:sp>
      <p:sp>
        <p:nvSpPr>
          <p:cNvPr id="12" name="Text 9"/>
          <p:cNvSpPr/>
          <p:nvPr/>
        </p:nvSpPr>
        <p:spPr>
          <a:xfrm>
            <a:off x="3663805" y="2066354"/>
            <a:ext cx="2230591" cy="225387"/>
          </a:xfrm>
          <a:prstGeom prst="rect">
            <a:avLst/>
          </a:prstGeom>
          <a:noFill/>
          <a:ln/>
        </p:spPr>
        <p:txBody>
          <a:bodyPr wrap="square" lIns="0" tIns="0" rIns="0" bIns="0" rtlCol="0" anchor="t">
            <a:normAutofit/>
          </a:bodyPr>
          <a:lstStyle/>
          <a:p>
            <a:pPr marL="0" indent="0" algn="l">
              <a:lnSpc>
                <a:spcPts val="1575"/>
              </a:lnSpc>
              <a:buNone/>
            </a:pPr>
            <a:r>
              <a:rPr lang="en-US" sz="1313" b="1" dirty="0">
                <a:solidFill>
                  <a:srgbClr val="033A70"/>
                </a:solidFill>
                <a:latin typeface="Source Sans 3" pitchFamily="34" charset="0"/>
                <a:ea typeface="Source Sans 3" pitchFamily="34" charset="-122"/>
                <a:cs typeface="Source Sans 3" pitchFamily="34" charset="-120"/>
              </a:rPr>
              <a:t>Tests</a:t>
            </a:r>
            <a:endParaRPr lang="en-US" sz="1313" dirty="0"/>
          </a:p>
        </p:txBody>
      </p:sp>
      <p:sp>
        <p:nvSpPr>
          <p:cNvPr id="13" name="Text 10"/>
          <p:cNvSpPr/>
          <p:nvPr/>
        </p:nvSpPr>
        <p:spPr>
          <a:xfrm>
            <a:off x="3663805" y="2317062"/>
            <a:ext cx="2230591" cy="990103"/>
          </a:xfrm>
          <a:prstGeom prst="rect">
            <a:avLst/>
          </a:prstGeom>
          <a:noFill/>
          <a:ln/>
        </p:spPr>
        <p:txBody>
          <a:bodyPr wrap="square" lIns="0" tIns="0" rIns="0" bIns="0" rtlCol="0" anchor="t">
            <a:normAutofit/>
          </a:bodyPr>
          <a:lstStyle/>
          <a:p>
            <a:pPr marL="0" indent="0" algn="l">
              <a:lnSpc>
                <a:spcPts val="1524"/>
              </a:lnSpc>
              <a:buNone/>
            </a:pPr>
            <a:r>
              <a:rPr lang="en-US" sz="1129" dirty="0">
                <a:solidFill>
                  <a:srgbClr val="22354A"/>
                </a:solidFill>
                <a:latin typeface="Source Sans 3" pitchFamily="34" charset="0"/>
                <a:ea typeface="Source Sans 3" pitchFamily="34" charset="-122"/>
                <a:cs typeface="Source Sans 3" pitchFamily="34" charset="-120"/>
              </a:rPr>
              <a:t>2 à 3 cabinets en test, 30 à 50 dossiers, rentrée des écoles. </a:t>
            </a:r>
            <a:endParaRPr lang="fr-FR" sz="1129" dirty="0">
              <a:solidFill>
                <a:srgbClr val="22354A"/>
              </a:solidFill>
              <a:latin typeface="Source Sans 3" pitchFamily="34" charset="0"/>
              <a:ea typeface="Source Sans 3" pitchFamily="34" charset="-122"/>
              <a:cs typeface="Source Sans 3" pitchFamily="34" charset="-120"/>
            </a:endParaRPr>
          </a:p>
          <a:p>
            <a:pPr marL="0" indent="0" algn="l">
              <a:lnSpc>
                <a:spcPts val="1524"/>
              </a:lnSpc>
              <a:buNone/>
            </a:pPr>
            <a:r>
              <a:rPr lang="en-US" sz="1129" dirty="0">
                <a:solidFill>
                  <a:srgbClr val="22354A"/>
                </a:solidFill>
                <a:latin typeface="Source Sans 3" pitchFamily="34" charset="0"/>
                <a:ea typeface="Source Sans 3" pitchFamily="34" charset="-122"/>
                <a:cs typeface="Source Sans 3" pitchFamily="34" charset="-120"/>
              </a:rPr>
              <a:t>Passage : 70 % de propriétaires satisfaits et au moins un cabinet qui veut continuer.</a:t>
            </a:r>
            <a:endParaRPr lang="en-US" sz="1129" dirty="0"/>
          </a:p>
        </p:txBody>
      </p:sp>
      <p:pic>
        <p:nvPicPr>
          <p:cNvPr id="14" name="Image 1" descr="connector"/>
          <p:cNvPicPr>
            <a:picLocks noChangeAspect="1"/>
          </p:cNvPicPr>
          <p:nvPr/>
        </p:nvPicPr>
        <p:blipFill>
          <a:blip r:embed="rId3"/>
          <a:srcRect l="-15" r="-15"/>
          <a:stretch/>
        </p:blipFill>
        <p:spPr>
          <a:xfrm>
            <a:off x="5981772" y="2483358"/>
            <a:ext cx="228518" cy="101533"/>
          </a:xfrm>
          <a:prstGeom prst="rect">
            <a:avLst/>
          </a:prstGeom>
        </p:spPr>
      </p:pic>
      <p:sp>
        <p:nvSpPr>
          <p:cNvPr id="15" name="Shape 11"/>
          <p:cNvSpPr/>
          <p:nvPr/>
        </p:nvSpPr>
        <p:spPr>
          <a:xfrm>
            <a:off x="6210291" y="1659589"/>
            <a:ext cx="2470222" cy="1749163"/>
          </a:xfrm>
          <a:prstGeom prst="rect">
            <a:avLst/>
          </a:prstGeom>
          <a:solidFill>
            <a:srgbClr val="DBEAF9"/>
          </a:solidFill>
          <a:ln/>
        </p:spPr>
      </p:sp>
      <p:sp>
        <p:nvSpPr>
          <p:cNvPr id="17" name="Text 13"/>
          <p:cNvSpPr/>
          <p:nvPr/>
        </p:nvSpPr>
        <p:spPr>
          <a:xfrm>
            <a:off x="6362636" y="1815554"/>
            <a:ext cx="2230498" cy="225478"/>
          </a:xfrm>
          <a:prstGeom prst="rect">
            <a:avLst/>
          </a:prstGeom>
          <a:noFill/>
          <a:ln/>
        </p:spPr>
        <p:txBody>
          <a:bodyPr wrap="square" lIns="0" tIns="0" rIns="0" bIns="0" rtlCol="0" anchor="t">
            <a:normAutofit/>
          </a:bodyPr>
          <a:lstStyle/>
          <a:p>
            <a:pPr marL="0" indent="0" algn="l">
              <a:lnSpc>
                <a:spcPts val="1622"/>
              </a:lnSpc>
              <a:buNone/>
            </a:pPr>
            <a:r>
              <a:rPr lang="en-US" sz="1159" kern="0" spc="100" dirty="0">
                <a:solidFill>
                  <a:srgbClr val="0380A5"/>
                </a:solidFill>
                <a:latin typeface="Source Sans 3" pitchFamily="34" charset="0"/>
                <a:ea typeface="Source Sans 3" pitchFamily="34" charset="-122"/>
                <a:cs typeface="Source Sans 3" pitchFamily="34" charset="-120"/>
              </a:rPr>
              <a:t>PHASE 2</a:t>
            </a:r>
            <a:endParaRPr lang="en-US" sz="1159" dirty="0"/>
          </a:p>
        </p:txBody>
      </p:sp>
      <p:sp>
        <p:nvSpPr>
          <p:cNvPr id="18" name="Text 14"/>
          <p:cNvSpPr/>
          <p:nvPr/>
        </p:nvSpPr>
        <p:spPr>
          <a:xfrm>
            <a:off x="6362636" y="2066354"/>
            <a:ext cx="2230498" cy="225387"/>
          </a:xfrm>
          <a:prstGeom prst="rect">
            <a:avLst/>
          </a:prstGeom>
          <a:noFill/>
          <a:ln/>
        </p:spPr>
        <p:txBody>
          <a:bodyPr wrap="square" lIns="0" tIns="0" rIns="0" bIns="0" rtlCol="0" anchor="t">
            <a:normAutofit/>
          </a:bodyPr>
          <a:lstStyle/>
          <a:p>
            <a:pPr marL="0" indent="0" algn="l">
              <a:lnSpc>
                <a:spcPts val="1575"/>
              </a:lnSpc>
              <a:buNone/>
            </a:pPr>
            <a:r>
              <a:rPr lang="en-US" sz="1313" b="1" dirty="0">
                <a:solidFill>
                  <a:srgbClr val="033A70"/>
                </a:solidFill>
                <a:latin typeface="Source Sans 3" pitchFamily="34" charset="0"/>
                <a:ea typeface="Source Sans 3" pitchFamily="34" charset="-122"/>
                <a:cs typeface="Source Sans 3" pitchFamily="34" charset="-120"/>
              </a:rPr>
              <a:t>Saison des mutations</a:t>
            </a:r>
            <a:endParaRPr lang="en-US" sz="1313" dirty="0"/>
          </a:p>
        </p:txBody>
      </p:sp>
      <p:sp>
        <p:nvSpPr>
          <p:cNvPr id="19" name="Text 15"/>
          <p:cNvSpPr/>
          <p:nvPr/>
        </p:nvSpPr>
        <p:spPr>
          <a:xfrm>
            <a:off x="6362636" y="2317062"/>
            <a:ext cx="2230498" cy="990103"/>
          </a:xfrm>
          <a:prstGeom prst="rect">
            <a:avLst/>
          </a:prstGeom>
          <a:noFill/>
          <a:ln/>
        </p:spPr>
        <p:txBody>
          <a:bodyPr wrap="square" lIns="0" tIns="0" rIns="0" bIns="0" rtlCol="0" anchor="t">
            <a:noAutofit/>
          </a:bodyPr>
          <a:lstStyle/>
          <a:p>
            <a:pPr marL="0" indent="0" algn="l">
              <a:lnSpc>
                <a:spcPts val="1564"/>
              </a:lnSpc>
              <a:buNone/>
            </a:pPr>
            <a:r>
              <a:rPr lang="en-US" sz="1050" dirty="0">
                <a:solidFill>
                  <a:srgbClr val="22354A"/>
                </a:solidFill>
                <a:latin typeface="Source Sans 3" pitchFamily="34" charset="0"/>
                <a:ea typeface="Source Sans 3" pitchFamily="34" charset="-122"/>
                <a:cs typeface="Source Sans 3" pitchFamily="34" charset="-120"/>
              </a:rPr>
              <a:t>5 à 8 cabinets partenaires, 250 à 400 dossiers, option B proposée aux plus actifs. </a:t>
            </a:r>
            <a:endParaRPr lang="fr-FR" sz="1050" dirty="0">
              <a:solidFill>
                <a:srgbClr val="22354A"/>
              </a:solidFill>
              <a:latin typeface="Source Sans 3" pitchFamily="34" charset="0"/>
              <a:ea typeface="Source Sans 3" pitchFamily="34" charset="-122"/>
              <a:cs typeface="Source Sans 3" pitchFamily="34" charset="-120"/>
            </a:endParaRPr>
          </a:p>
          <a:p>
            <a:pPr marL="0" indent="0" algn="l">
              <a:lnSpc>
                <a:spcPts val="1564"/>
              </a:lnSpc>
              <a:buNone/>
            </a:pPr>
            <a:r>
              <a:rPr lang="en-US" sz="1050" dirty="0">
                <a:solidFill>
                  <a:srgbClr val="22354A"/>
                </a:solidFill>
                <a:latin typeface="Source Sans 3" pitchFamily="34" charset="0"/>
                <a:ea typeface="Source Sans 3" pitchFamily="34" charset="-122"/>
                <a:cs typeface="Source Sans 3" pitchFamily="34" charset="-120"/>
              </a:rPr>
              <a:t>Passage : taux de rachat de la sortie d’au moins 50 %.</a:t>
            </a:r>
            <a:endParaRPr lang="en-US" sz="1050" dirty="0"/>
          </a:p>
        </p:txBody>
      </p:sp>
      <p:pic>
        <p:nvPicPr>
          <p:cNvPr id="20" name="Image 2" descr="connector"/>
          <p:cNvPicPr>
            <a:picLocks noChangeAspect="1"/>
          </p:cNvPicPr>
          <p:nvPr/>
        </p:nvPicPr>
        <p:blipFill>
          <a:blip r:embed="rId3"/>
          <a:srcRect l="-15" r="-15"/>
          <a:stretch/>
        </p:blipFill>
        <p:spPr>
          <a:xfrm>
            <a:off x="8680513" y="2483358"/>
            <a:ext cx="228518" cy="101533"/>
          </a:xfrm>
          <a:prstGeom prst="rect">
            <a:avLst/>
          </a:prstGeom>
        </p:spPr>
      </p:pic>
      <p:sp>
        <p:nvSpPr>
          <p:cNvPr id="21" name="Shape 16"/>
          <p:cNvSpPr/>
          <p:nvPr/>
        </p:nvSpPr>
        <p:spPr>
          <a:xfrm>
            <a:off x="8909031" y="1659589"/>
            <a:ext cx="2470222" cy="1749163"/>
          </a:xfrm>
          <a:prstGeom prst="rect">
            <a:avLst/>
          </a:prstGeom>
          <a:solidFill>
            <a:srgbClr val="DBEAF9"/>
          </a:solidFill>
          <a:ln/>
        </p:spPr>
      </p:sp>
      <p:sp>
        <p:nvSpPr>
          <p:cNvPr id="23" name="Text 18"/>
          <p:cNvSpPr/>
          <p:nvPr/>
        </p:nvSpPr>
        <p:spPr>
          <a:xfrm>
            <a:off x="9061376" y="1815554"/>
            <a:ext cx="2230498" cy="238792"/>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96297"/>
                </a:solidFill>
                <a:latin typeface="Source Sans 3" pitchFamily="34" charset="0"/>
                <a:ea typeface="Source Sans 3" pitchFamily="34" charset="-122"/>
                <a:cs typeface="Source Sans 3" pitchFamily="34" charset="-120"/>
              </a:rPr>
              <a:t>PHASE 3</a:t>
            </a:r>
            <a:endParaRPr lang="en-US" sz="1200" dirty="0"/>
          </a:p>
        </p:txBody>
      </p:sp>
      <p:sp>
        <p:nvSpPr>
          <p:cNvPr id="24" name="Text 19"/>
          <p:cNvSpPr/>
          <p:nvPr/>
        </p:nvSpPr>
        <p:spPr>
          <a:xfrm>
            <a:off x="9061376" y="2079668"/>
            <a:ext cx="2230498" cy="238702"/>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Extension</a:t>
            </a:r>
            <a:endParaRPr lang="en-US" sz="1400" dirty="0"/>
          </a:p>
        </p:txBody>
      </p:sp>
      <p:sp>
        <p:nvSpPr>
          <p:cNvPr id="25" name="Text 20"/>
          <p:cNvSpPr/>
          <p:nvPr/>
        </p:nvSpPr>
        <p:spPr>
          <a:xfrm>
            <a:off x="9061376" y="2343690"/>
            <a:ext cx="2230498" cy="848536"/>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2354A"/>
                </a:solidFill>
                <a:latin typeface="Source Sans 3" pitchFamily="34" charset="0"/>
                <a:ea typeface="Source Sans 3" pitchFamily="34" charset="-122"/>
                <a:cs typeface="Source Sans 3" pitchFamily="34" charset="-120"/>
              </a:rPr>
              <a:t>Réseaux de la relocation, RH mobilité, autres écoles, Lyon. Passage : coût d’acquisition inférieur à 25 € par dossier.</a:t>
            </a:r>
            <a:endParaRPr lang="en-US" sz="1200" dirty="0"/>
          </a:p>
        </p:txBody>
      </p:sp>
      <p:sp>
        <p:nvSpPr>
          <p:cNvPr id="26" name="Text 21"/>
          <p:cNvSpPr/>
          <p:nvPr/>
        </p:nvSpPr>
        <p:spPr>
          <a:xfrm>
            <a:off x="812720" y="3561097"/>
            <a:ext cx="6436062" cy="238702"/>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Objectifs à douze mois, scénarios de l’équipe</a:t>
            </a:r>
            <a:endParaRPr lang="en-US" sz="1400" dirty="0"/>
          </a:p>
        </p:txBody>
      </p:sp>
      <p:sp>
        <p:nvSpPr>
          <p:cNvPr id="27" name="Shape 22"/>
          <p:cNvSpPr/>
          <p:nvPr/>
        </p:nvSpPr>
        <p:spPr>
          <a:xfrm>
            <a:off x="7058148" y="3850568"/>
            <a:ext cx="0" cy="1674893"/>
          </a:xfrm>
          <a:prstGeom prst="line">
            <a:avLst/>
          </a:prstGeom>
          <a:noFill/>
          <a:ln w="6350">
            <a:solidFill>
              <a:srgbClr val="C9D6E4"/>
            </a:solidFill>
            <a:prstDash val="solid"/>
          </a:ln>
        </p:spPr>
      </p:sp>
      <p:sp>
        <p:nvSpPr>
          <p:cNvPr id="28" name="Shape 23"/>
          <p:cNvSpPr/>
          <p:nvPr/>
        </p:nvSpPr>
        <p:spPr>
          <a:xfrm>
            <a:off x="812720" y="5522286"/>
            <a:ext cx="6248603" cy="0"/>
          </a:xfrm>
          <a:prstGeom prst="line">
            <a:avLst/>
          </a:prstGeom>
          <a:noFill/>
          <a:ln w="6350">
            <a:solidFill>
              <a:srgbClr val="C9D6E4"/>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24313" y="3862162"/>
          <a:ext cx="6231212" cy="1657505"/>
        </p:xfrm>
        <a:graphic>
          <a:graphicData uri="http://schemas.openxmlformats.org/drawingml/2006/table">
            <a:tbl>
              <a:tblPr/>
              <a:tblGrid>
                <a:gridCol w="2866358">
                  <a:extLst>
                    <a:ext uri="{9D8B030D-6E8A-4147-A177-3AD203B41FA5}">
                      <a16:colId xmlns:a16="http://schemas.microsoft.com/office/drawing/2014/main" val="20000"/>
                    </a:ext>
                  </a:extLst>
                </a:gridCol>
                <a:gridCol w="1121618">
                  <a:extLst>
                    <a:ext uri="{9D8B030D-6E8A-4147-A177-3AD203B41FA5}">
                      <a16:colId xmlns:a16="http://schemas.microsoft.com/office/drawing/2014/main" val="20001"/>
                    </a:ext>
                  </a:extLst>
                </a:gridCol>
                <a:gridCol w="1121618">
                  <a:extLst>
                    <a:ext uri="{9D8B030D-6E8A-4147-A177-3AD203B41FA5}">
                      <a16:colId xmlns:a16="http://schemas.microsoft.com/office/drawing/2014/main" val="20002"/>
                    </a:ext>
                  </a:extLst>
                </a:gridCol>
                <a:gridCol w="1121618">
                  <a:extLst>
                    <a:ext uri="{9D8B030D-6E8A-4147-A177-3AD203B41FA5}">
                      <a16:colId xmlns:a16="http://schemas.microsoft.com/office/drawing/2014/main" val="20003"/>
                    </a:ext>
                  </a:extLst>
                </a:gridCol>
              </a:tblGrid>
              <a:tr h="331501">
                <a:tc>
                  <a:txBody>
                    <a:bodyPr/>
                    <a:lstStyle/>
                    <a:p>
                      <a:pPr marL="0" indent="0">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Indicateur</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Bas</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Central</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Haut</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extLst>
                  <a:ext uri="{0D108BD9-81ED-4DB2-BD59-A6C34878D82A}">
                    <a16:rowId xmlns:a16="http://schemas.microsoft.com/office/drawing/2014/main" val="10000"/>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Cabinets de relocation partenaires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3</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5 à 8</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10</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1"/>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Propriétaires payeurs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86</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299</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1 034</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2"/>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Dossiers réalisés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118</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377</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1 220</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3"/>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Chiffre d’affaires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~9 k€</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~28 k€</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~92 k€</a:t>
                      </a:r>
                      <a:endParaRPr lang="en-US" sz="1200" dirty="0">
                        <a:latin typeface="Source Sans 3" charset="0"/>
                        <a:ea typeface="Source Sans 3" charset="0"/>
                        <a:cs typeface="Source Sans 3" charset="0"/>
                      </a:endParaRPr>
                    </a:p>
                  </a:txBody>
                  <a:tcPr marL="53340" marR="53340" marT="53340" marB="53340">
                    <a:lnL w="12700" cap="flat" cmpd="sng" algn="ctr">
                      <a:solidFill>
                        <a:srgbClr val="AFBBC6"/>
                      </a:solidFill>
                      <a:prstDash val="solid"/>
                      <a:round/>
                      <a:headEnd type="none" w="med" len="med"/>
                      <a:tailEnd type="none" w="med" len="med"/>
                    </a:lnL>
                    <a:lnR w="12700" cap="flat" cmpd="sng" algn="ctr">
                      <a:solidFill>
                        <a:srgbClr val="AFBBC6"/>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AFBBC6"/>
                      </a:solidFill>
                      <a:prstDash val="solid"/>
                      <a:round/>
                      <a:headEnd type="none" w="med" len="med"/>
                      <a:tailEnd type="none" w="med" len="med"/>
                    </a:lnB>
                    <a:solidFill>
                      <a:srgbClr val="DBEAF9"/>
                    </a:solidFill>
                  </a:tcPr>
                </a:tc>
                <a:extLst>
                  <a:ext uri="{0D108BD9-81ED-4DB2-BD59-A6C34878D82A}">
                    <a16:rowId xmlns:a16="http://schemas.microsoft.com/office/drawing/2014/main" val="10004"/>
                  </a:ext>
                </a:extLst>
              </a:tr>
            </a:tbl>
          </a:graphicData>
        </a:graphic>
      </p:graphicFrame>
      <p:sp>
        <p:nvSpPr>
          <p:cNvPr id="30" name="Text 24"/>
          <p:cNvSpPr/>
          <p:nvPr/>
        </p:nvSpPr>
        <p:spPr>
          <a:xfrm>
            <a:off x="812720" y="5601636"/>
            <a:ext cx="6436062" cy="4521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B"/>
                </a:solidFill>
                <a:latin typeface="Source Sans 3" pitchFamily="34" charset="0"/>
                <a:ea typeface="Source Sans 3" pitchFamily="34" charset="-122"/>
                <a:cs typeface="Source Sans 3" pitchFamily="34" charset="-120"/>
              </a:rPr>
              <a:t>Taux de conquête de 15, 20 et 25 % des propriétaires ciblables ; p</a:t>
            </a:r>
            <a:r>
              <a:rPr lang="fr-FR" sz="1200" dirty="0" err="1">
                <a:solidFill>
                  <a:srgbClr val="5B6B7B"/>
                </a:solidFill>
                <a:latin typeface="Source Sans 3" pitchFamily="34" charset="0"/>
                <a:ea typeface="Source Sans 3" pitchFamily="34" charset="-122"/>
                <a:cs typeface="Source Sans 3" pitchFamily="34" charset="-120"/>
              </a:rPr>
              <a:t>rix</a:t>
            </a:r>
            <a:r>
              <a:rPr lang="fr-FR" sz="1200" dirty="0">
                <a:solidFill>
                  <a:srgbClr val="5B6B7B"/>
                </a:solidFill>
                <a:latin typeface="Source Sans 3" pitchFamily="34" charset="0"/>
                <a:ea typeface="Source Sans 3" pitchFamily="34" charset="-122"/>
                <a:cs typeface="Source Sans 3" pitchFamily="34" charset="-120"/>
              </a:rPr>
              <a:t> moyen</a:t>
            </a:r>
            <a:r>
              <a:rPr lang="en-US" sz="1200" dirty="0">
                <a:solidFill>
                  <a:srgbClr val="5B6B7B"/>
                </a:solidFill>
                <a:latin typeface="Source Sans 3" pitchFamily="34" charset="0"/>
                <a:ea typeface="Source Sans 3" pitchFamily="34" charset="-122"/>
                <a:cs typeface="Source Sans 3" pitchFamily="34" charset="-120"/>
              </a:rPr>
              <a:t> de 75 € par dossier</a:t>
            </a:r>
            <a:endParaRPr lang="en-US" sz="1200" dirty="0"/>
          </a:p>
        </p:txBody>
      </p:sp>
      <p:sp>
        <p:nvSpPr>
          <p:cNvPr id="31" name="Text 25"/>
          <p:cNvSpPr/>
          <p:nvPr/>
        </p:nvSpPr>
        <p:spPr>
          <a:xfrm>
            <a:off x="7315292" y="3561097"/>
            <a:ext cx="4185880" cy="238702"/>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33A70"/>
                </a:solidFill>
                <a:latin typeface="Source Sans 3" pitchFamily="34" charset="0"/>
                <a:ea typeface="Source Sans 3" pitchFamily="34" charset="-122"/>
                <a:cs typeface="Source Sans 3" pitchFamily="34" charset="-120"/>
              </a:rPr>
              <a:t>Indicateurs de qualité suivis</a:t>
            </a:r>
            <a:endParaRPr lang="en-US" sz="1400" dirty="0"/>
          </a:p>
        </p:txBody>
      </p:sp>
      <p:sp>
        <p:nvSpPr>
          <p:cNvPr id="32" name="Shape 26"/>
          <p:cNvSpPr/>
          <p:nvPr/>
        </p:nvSpPr>
        <p:spPr>
          <a:xfrm>
            <a:off x="11376078" y="3850568"/>
            <a:ext cx="0" cy="2646570"/>
          </a:xfrm>
          <a:prstGeom prst="line">
            <a:avLst/>
          </a:prstGeom>
          <a:noFill/>
          <a:ln w="6350">
            <a:solidFill>
              <a:srgbClr val="C9D6E4"/>
            </a:solidFill>
            <a:prstDash val="solid"/>
          </a:ln>
        </p:spPr>
      </p:sp>
      <p:sp>
        <p:nvSpPr>
          <p:cNvPr id="33" name="Shape 27"/>
          <p:cNvSpPr/>
          <p:nvPr/>
        </p:nvSpPr>
        <p:spPr>
          <a:xfrm>
            <a:off x="7315292" y="6493963"/>
            <a:ext cx="4063961" cy="0"/>
          </a:xfrm>
          <a:prstGeom prst="line">
            <a:avLst/>
          </a:prstGeom>
          <a:noFill/>
          <a:ln w="6350">
            <a:solidFill>
              <a:srgbClr val="C9D6E4"/>
            </a:solidFill>
            <a:prstDash val="solid"/>
          </a:ln>
        </p:spPr>
      </p:sp>
      <p:graphicFrame>
        <p:nvGraphicFramePr>
          <p:cNvPr id="34" name="Table 1"/>
          <p:cNvGraphicFramePr>
            <a:graphicFrameLocks noGrp="1"/>
          </p:cNvGraphicFramePr>
          <p:nvPr>
            <p:extLst>
              <p:ext uri="{D42A27DB-BD31-4B8C-83A1-F6EECF244321}">
                <p14:modId xmlns:p14="http://schemas.microsoft.com/office/powerpoint/2010/main" val="1579011935"/>
              </p:ext>
            </p:extLst>
          </p:nvPr>
        </p:nvGraphicFramePr>
        <p:xfrm>
          <a:off x="7326886" y="3862162"/>
          <a:ext cx="4046570" cy="2629182"/>
        </p:xfrm>
        <a:graphic>
          <a:graphicData uri="http://schemas.openxmlformats.org/drawingml/2006/table">
            <a:tbl>
              <a:tblPr/>
              <a:tblGrid>
                <a:gridCol w="2832599">
                  <a:extLst>
                    <a:ext uri="{9D8B030D-6E8A-4147-A177-3AD203B41FA5}">
                      <a16:colId xmlns:a16="http://schemas.microsoft.com/office/drawing/2014/main" val="20000"/>
                    </a:ext>
                  </a:extLst>
                </a:gridCol>
                <a:gridCol w="1213971">
                  <a:extLst>
                    <a:ext uri="{9D8B030D-6E8A-4147-A177-3AD203B41FA5}">
                      <a16:colId xmlns:a16="http://schemas.microsoft.com/office/drawing/2014/main" val="20001"/>
                    </a:ext>
                  </a:extLst>
                </a:gridCol>
              </a:tblGrid>
              <a:tr h="331501">
                <a:tc>
                  <a:txBody>
                    <a:bodyPr/>
                    <a:lstStyle/>
                    <a:p>
                      <a:pPr marL="0" indent="0">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Indicateur</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tc>
                  <a:txBody>
                    <a:bodyPr/>
                    <a:lstStyle/>
                    <a:p>
                      <a:pPr marL="0" indent="0" algn="r">
                        <a:lnSpc>
                          <a:spcPts val="1680"/>
                        </a:lnSpc>
                        <a:buNone/>
                      </a:pPr>
                      <a:r>
                        <a:rPr lang="en-US" sz="1200" b="1" dirty="0">
                          <a:solidFill>
                            <a:srgbClr val="F6F8FB"/>
                          </a:solidFill>
                          <a:latin typeface="Source Sans 3" pitchFamily="34" charset="0"/>
                          <a:ea typeface="Source Sans 3" pitchFamily="34" charset="-122"/>
                          <a:cs typeface="Source Sans 3" pitchFamily="34" charset="-120"/>
                        </a:rPr>
                        <a:t>Cible</a:t>
                      </a:r>
                      <a:endParaRPr lang="en-US" sz="1200" dirty="0">
                        <a:latin typeface="Source Sans 3" charset="0"/>
                        <a:ea typeface="Source Sans 3" charset="0"/>
                        <a:cs typeface="Source Sans 3" charset="0"/>
                      </a:endParaRPr>
                    </a:p>
                  </a:txBody>
                  <a:tcPr marL="53340" marR="53340" marT="53340" marB="53340">
                    <a:lnL w="12700" cap="flat" cmpd="sng" algn="ctr">
                      <a:solidFill>
                        <a:srgbClr val="07325C"/>
                      </a:solidFill>
                      <a:prstDash val="solid"/>
                      <a:round/>
                      <a:headEnd type="none" w="med" len="med"/>
                      <a:tailEnd type="none" w="med" len="med"/>
                    </a:lnL>
                    <a:lnR w="12700" cap="flat" cmpd="sng" algn="ctr">
                      <a:solidFill>
                        <a:srgbClr val="07325C"/>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07325C"/>
                      </a:solidFill>
                      <a:prstDash val="solid"/>
                      <a:round/>
                      <a:headEnd type="none" w="med" len="med"/>
                      <a:tailEnd type="none" w="med" len="med"/>
                    </a:lnB>
                    <a:solidFill>
                      <a:srgbClr val="033A70"/>
                    </a:solidFill>
                  </a:tcPr>
                </a:tc>
                <a:extLst>
                  <a:ext uri="{0D108BD9-81ED-4DB2-BD59-A6C34878D82A}">
                    <a16:rowId xmlns:a16="http://schemas.microsoft.com/office/drawing/2014/main" val="10000"/>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Logements loués en direct chez les cabinets partenaires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au moins 20 %</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07325C"/>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1"/>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Locations en direct des cabinets passées par Tenu</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au moins 30 %</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2"/>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Part de Dossiers Complets</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au moins 60 %</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3"/>
                  </a:ext>
                </a:extLst>
              </a:tr>
              <a:tr h="544893">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Satisfaction propriétaire</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au moins 8 sur 10</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4"/>
                  </a:ext>
                </a:extLst>
              </a:tr>
              <a:tr h="331501">
                <a:tc>
                  <a:txBody>
                    <a:bodyPr/>
                    <a:lstStyle/>
                    <a:p>
                      <a:pPr marL="0" indent="0">
                        <a:lnSpc>
                          <a:spcPts val="1680"/>
                        </a:lnSpc>
                        <a:buNone/>
                      </a:pPr>
                      <a:r>
                        <a:rPr lang="en-US" sz="1200" dirty="0">
                          <a:solidFill>
                            <a:srgbClr val="22354A"/>
                          </a:solidFill>
                          <a:latin typeface="Source Sans 3" pitchFamily="34" charset="0"/>
                          <a:ea typeface="Source Sans 3" pitchFamily="34" charset="-122"/>
                          <a:cs typeface="Source Sans 3" pitchFamily="34" charset="-120"/>
                        </a:rPr>
                        <a:t>Coût d’acquisition par dossier</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marL="0" indent="0" algn="r">
                        <a:lnSpc>
                          <a:spcPts val="1680"/>
                        </a:lnSpc>
                        <a:buNone/>
                      </a:pPr>
                      <a:r>
                        <a:rPr lang="en-US" sz="1200" dirty="0">
                          <a:solidFill>
                            <a:srgbClr val="22354A"/>
                          </a:solidFill>
                          <a:latin typeface="Source Sans 3" pitchFamily="34" charset="0"/>
                          <a:ea typeface="Source Sans 3" pitchFamily="34" charset="-122"/>
                          <a:cs typeface="Source Sans 3" pitchFamily="34" charset="-120"/>
                        </a:rPr>
                        <a:t>moins de 25 €</a:t>
                      </a:r>
                      <a:endParaRPr lang="en-US" sz="1200" dirty="0">
                        <a:latin typeface="Source Sans 3" charset="0"/>
                        <a:ea typeface="Source Sans 3" charset="0"/>
                        <a:cs typeface="Source Sans 3" charset="0"/>
                      </a:endParaRPr>
                    </a:p>
                  </a:txBody>
                  <a:tcPr marL="53340" marR="53340" marT="53340" marB="53340">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33A7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20" y="812719"/>
            <a:ext cx="10883529" cy="705972"/>
          </a:xfrm>
          <a:prstGeom prst="rect">
            <a:avLst/>
          </a:prstGeom>
          <a:noFill/>
          <a:ln/>
        </p:spPr>
        <p:txBody>
          <a:bodyPr wrap="square" lIns="0" tIns="0" rIns="0" bIns="0" rtlCol="0" anchor="t">
            <a:normAutofit/>
          </a:bodyPr>
          <a:lstStyle/>
          <a:p>
            <a:pPr marL="0" indent="0" algn="l">
              <a:lnSpc>
                <a:spcPts val="2684"/>
              </a:lnSpc>
              <a:buNone/>
            </a:pPr>
            <a:r>
              <a:rPr lang="en-US" sz="2440" b="1" i="0" dirty="0">
                <a:solidFill>
                  <a:srgbClr val="F6F8FB"/>
                </a:solidFill>
                <a:latin typeface="Source Sans 3" pitchFamily="34" charset="0"/>
                <a:ea typeface="Source Sans 3" pitchFamily="34" charset="-122"/>
                <a:cs typeface="Source Sans 3" pitchFamily="34" charset="-120"/>
              </a:rPr>
              <a:t>Proposition aux investisseurs : un amorçage libéré par portes, pas par calendrier</a:t>
            </a:r>
            <a:endParaRPr lang="en-US" sz="2440" dirty="0"/>
          </a:p>
        </p:txBody>
      </p:sp>
      <p:sp>
        <p:nvSpPr>
          <p:cNvPr id="3" name="Shape 1"/>
          <p:cNvSpPr/>
          <p:nvPr/>
        </p:nvSpPr>
        <p:spPr>
          <a:xfrm>
            <a:off x="812720" y="1645636"/>
            <a:ext cx="3437461" cy="1791914"/>
          </a:xfrm>
          <a:prstGeom prst="rect">
            <a:avLst/>
          </a:prstGeom>
          <a:solidFill>
            <a:srgbClr val="0B4A86"/>
          </a:solidFill>
          <a:ln/>
        </p:spPr>
      </p:sp>
      <p:sp>
        <p:nvSpPr>
          <p:cNvPr id="4" name="Shape 2"/>
          <p:cNvSpPr/>
          <p:nvPr/>
        </p:nvSpPr>
        <p:spPr>
          <a:xfrm>
            <a:off x="812720" y="1664686"/>
            <a:ext cx="3437461" cy="0"/>
          </a:xfrm>
          <a:prstGeom prst="line">
            <a:avLst/>
          </a:prstGeom>
          <a:noFill/>
          <a:ln w="38100">
            <a:solidFill>
              <a:srgbClr val="0380A5"/>
            </a:solidFill>
            <a:prstDash val="solid"/>
          </a:ln>
        </p:spPr>
      </p:sp>
      <p:sp>
        <p:nvSpPr>
          <p:cNvPr id="5" name="Text 3"/>
          <p:cNvSpPr/>
          <p:nvPr/>
        </p:nvSpPr>
        <p:spPr>
          <a:xfrm>
            <a:off x="965065" y="1832763"/>
            <a:ext cx="3226754" cy="195045"/>
          </a:xfrm>
          <a:prstGeom prst="rect">
            <a:avLst/>
          </a:prstGeom>
          <a:noFill/>
          <a:ln/>
        </p:spPr>
        <p:txBody>
          <a:bodyPr wrap="square" lIns="0" tIns="0" rIns="0" bIns="0" rtlCol="0" anchor="t">
            <a:normAutofit/>
          </a:bodyPr>
          <a:lstStyle/>
          <a:p>
            <a:pPr marL="0" indent="0" algn="l">
              <a:lnSpc>
                <a:spcPts val="1370"/>
              </a:lnSpc>
              <a:buNone/>
            </a:pPr>
            <a:r>
              <a:rPr lang="en-US" sz="979" kern="0" spc="100" dirty="0">
                <a:solidFill>
                  <a:srgbClr val="8FC4E8"/>
                </a:solidFill>
                <a:latin typeface="Source Sans 3" pitchFamily="34" charset="0"/>
                <a:ea typeface="Source Sans 3" pitchFamily="34" charset="-122"/>
                <a:cs typeface="Source Sans 3" pitchFamily="34" charset="-120"/>
              </a:rPr>
              <a:t>PORTE G0 · PEUT-ON VENDRE ?</a:t>
            </a:r>
            <a:endParaRPr lang="en-US" sz="979" dirty="0"/>
          </a:p>
        </p:txBody>
      </p:sp>
      <p:sp>
        <p:nvSpPr>
          <p:cNvPr id="6" name="Text 4"/>
          <p:cNvSpPr/>
          <p:nvPr/>
        </p:nvSpPr>
        <p:spPr>
          <a:xfrm>
            <a:off x="1070821" y="2053127"/>
            <a:ext cx="3113377" cy="1043270"/>
          </a:xfrm>
          <a:prstGeom prst="rect">
            <a:avLst/>
          </a:prstGeom>
          <a:noFill/>
          <a:ln/>
        </p:spPr>
        <p:txBody>
          <a:bodyPr wrap="square" lIns="0" tIns="0" rIns="0" bIns="0" rtlCol="0" anchor="t">
            <a:normAutofit/>
          </a:bodyPr>
          <a:lstStyle/>
          <a:p>
            <a:pPr marL="148244" indent="-148244" algn="l">
              <a:lnSpc>
                <a:spcPts val="1570"/>
              </a:lnSpc>
              <a:buSzPct val="100000"/>
              <a:buChar char="•"/>
            </a:pPr>
            <a:r>
              <a:rPr lang="en-US" sz="1121" dirty="0">
                <a:solidFill>
                  <a:srgbClr val="C9DBEE"/>
                </a:solidFill>
                <a:latin typeface="Source Sans 3" pitchFamily="34" charset="0"/>
                <a:ea typeface="Source Sans 3" pitchFamily="34" charset="-122"/>
                <a:cs typeface="Source Sans 3" pitchFamily="34" charset="-120"/>
              </a:rPr>
              <a:t>Avis écrit de l’avocat, CGV, notices RGPD validées par le DPO, médiateur, assurance</a:t>
            </a:r>
            <a:endParaRPr lang="en-US" sz="1121" dirty="0"/>
          </a:p>
          <a:p>
            <a:pPr marL="148244" indent="-148244" algn="l">
              <a:lnSpc>
                <a:spcPts val="1570"/>
              </a:lnSpc>
              <a:buSzPct val="100000"/>
              <a:buChar char="•"/>
            </a:pPr>
            <a:r>
              <a:rPr lang="en-US" sz="1121" dirty="0">
                <a:solidFill>
                  <a:srgbClr val="C9DBEE"/>
                </a:solidFill>
                <a:latin typeface="Source Sans 3" pitchFamily="34" charset="0"/>
                <a:ea typeface="Source Sans 3" pitchFamily="34" charset="-122"/>
                <a:cs typeface="Source Sans 3" pitchFamily="34" charset="-120"/>
              </a:rPr>
              <a:t>Produit testé sur 10 baux, notation retirée</a:t>
            </a:r>
            <a:endParaRPr lang="en-US" sz="1121" dirty="0"/>
          </a:p>
          <a:p>
            <a:pPr marL="148244" indent="-148244" algn="l">
              <a:lnSpc>
                <a:spcPts val="1570"/>
              </a:lnSpc>
              <a:buSzPct val="100000"/>
              <a:buChar char="•"/>
            </a:pPr>
            <a:r>
              <a:rPr lang="en-US" sz="1121" dirty="0">
                <a:solidFill>
                  <a:srgbClr val="C9DBEE"/>
                </a:solidFill>
                <a:latin typeface="Source Sans 3" pitchFamily="34" charset="0"/>
                <a:ea typeface="Source Sans 3" pitchFamily="34" charset="-122"/>
                <a:cs typeface="Source Sans 3" pitchFamily="34" charset="-120"/>
              </a:rPr>
              <a:t>Pack à 69 € choisi par un tiers de 20 propriétaires ; 3 lettres d’intention de prescripteurs</a:t>
            </a:r>
            <a:endParaRPr lang="en-US" sz="1121" dirty="0"/>
          </a:p>
        </p:txBody>
      </p:sp>
      <p:sp>
        <p:nvSpPr>
          <p:cNvPr id="7" name="Text 5"/>
          <p:cNvSpPr/>
          <p:nvPr/>
        </p:nvSpPr>
        <p:spPr>
          <a:xfrm>
            <a:off x="965065" y="3121720"/>
            <a:ext cx="3226754" cy="188886"/>
          </a:xfrm>
          <a:prstGeom prst="rect">
            <a:avLst/>
          </a:prstGeom>
          <a:noFill/>
          <a:ln/>
        </p:spPr>
        <p:txBody>
          <a:bodyPr wrap="square" lIns="0" tIns="0" rIns="0" bIns="0" rtlCol="0" anchor="t">
            <a:normAutofit/>
          </a:bodyPr>
          <a:lstStyle/>
          <a:p>
            <a:pPr marL="0" indent="0" algn="l">
              <a:lnSpc>
                <a:spcPts val="1321"/>
              </a:lnSpc>
              <a:buNone/>
            </a:pPr>
            <a:r>
              <a:rPr lang="en-US" sz="979" dirty="0">
                <a:solidFill>
                  <a:srgbClr val="8FC4E8"/>
                </a:solidFill>
                <a:latin typeface="Source Sans 3" pitchFamily="34" charset="0"/>
                <a:ea typeface="Source Sans 3" pitchFamily="34" charset="-122"/>
                <a:cs typeface="Source Sans 3" pitchFamily="34" charset="-120"/>
              </a:rPr>
              <a:t>Libère la phase 1 : 3,1 à 4,95 k€</a:t>
            </a:r>
            <a:endParaRPr lang="en-US" sz="979" dirty="0"/>
          </a:p>
        </p:txBody>
      </p:sp>
      <p:sp>
        <p:nvSpPr>
          <p:cNvPr id="8" name="Shape 6"/>
          <p:cNvSpPr/>
          <p:nvPr/>
        </p:nvSpPr>
        <p:spPr>
          <a:xfrm>
            <a:off x="4377165" y="1645636"/>
            <a:ext cx="3437551" cy="1791914"/>
          </a:xfrm>
          <a:prstGeom prst="rect">
            <a:avLst/>
          </a:prstGeom>
          <a:solidFill>
            <a:srgbClr val="0B4A86"/>
          </a:solidFill>
          <a:ln/>
        </p:spPr>
      </p:sp>
      <p:sp>
        <p:nvSpPr>
          <p:cNvPr id="9" name="Shape 7"/>
          <p:cNvSpPr/>
          <p:nvPr/>
        </p:nvSpPr>
        <p:spPr>
          <a:xfrm>
            <a:off x="4377165" y="1664686"/>
            <a:ext cx="3437551" cy="0"/>
          </a:xfrm>
          <a:prstGeom prst="line">
            <a:avLst/>
          </a:prstGeom>
          <a:noFill/>
          <a:ln w="38100">
            <a:solidFill>
              <a:srgbClr val="8FC4E8"/>
            </a:solidFill>
            <a:prstDash val="solid"/>
          </a:ln>
        </p:spPr>
      </p:sp>
      <p:sp>
        <p:nvSpPr>
          <p:cNvPr id="10" name="Text 8"/>
          <p:cNvSpPr/>
          <p:nvPr/>
        </p:nvSpPr>
        <p:spPr>
          <a:xfrm>
            <a:off x="4529511" y="1832763"/>
            <a:ext cx="3226847" cy="176115"/>
          </a:xfrm>
          <a:prstGeom prst="rect">
            <a:avLst/>
          </a:prstGeom>
          <a:noFill/>
          <a:ln/>
        </p:spPr>
        <p:txBody>
          <a:bodyPr wrap="square" lIns="0" tIns="0" rIns="0" bIns="0" rtlCol="0" anchor="t">
            <a:normAutofit/>
          </a:bodyPr>
          <a:lstStyle/>
          <a:p>
            <a:pPr marL="0" indent="0" algn="l">
              <a:lnSpc>
                <a:spcPts val="1223"/>
              </a:lnSpc>
              <a:buNone/>
            </a:pPr>
            <a:r>
              <a:rPr lang="en-US" sz="874" kern="0" spc="100" dirty="0">
                <a:solidFill>
                  <a:srgbClr val="8FC4E8"/>
                </a:solidFill>
                <a:latin typeface="Source Sans 3" pitchFamily="34" charset="0"/>
                <a:ea typeface="Source Sans 3" pitchFamily="34" charset="-122"/>
                <a:cs typeface="Source Sans 3" pitchFamily="34" charset="-120"/>
              </a:rPr>
              <a:t>PORTE G1 · FAUT-IL ACCÉLÉRER ?</a:t>
            </a:r>
            <a:endParaRPr lang="en-US" sz="874" dirty="0"/>
          </a:p>
        </p:txBody>
      </p:sp>
      <p:sp>
        <p:nvSpPr>
          <p:cNvPr id="11" name="Text 9"/>
          <p:cNvSpPr/>
          <p:nvPr/>
        </p:nvSpPr>
        <p:spPr>
          <a:xfrm>
            <a:off x="4648967" y="2034195"/>
            <a:ext cx="3099771" cy="1080405"/>
          </a:xfrm>
          <a:prstGeom prst="rect">
            <a:avLst/>
          </a:prstGeom>
          <a:noFill/>
          <a:ln/>
        </p:spPr>
        <p:txBody>
          <a:bodyPr wrap="square" lIns="0" tIns="0" rIns="0" bIns="0" rtlCol="0" anchor="t">
            <a:normAutofit/>
          </a:bodyPr>
          <a:lstStyle/>
          <a:p>
            <a:pPr marL="134544" indent="-134544" algn="l">
              <a:lnSpc>
                <a:spcPts val="1386"/>
              </a:lnSpc>
              <a:buSzPct val="100000"/>
              <a:buChar char="•"/>
            </a:pPr>
            <a:r>
              <a:rPr lang="en-US" sz="990" dirty="0">
                <a:solidFill>
                  <a:srgbClr val="C9DBEE"/>
                </a:solidFill>
                <a:latin typeface="Source Sans 3" pitchFamily="34" charset="0"/>
                <a:ea typeface="Source Sans 3" pitchFamily="34" charset="-122"/>
                <a:cs typeface="Source Sans 3" pitchFamily="34" charset="-120"/>
              </a:rPr>
              <a:t>40 baux payés, dont la moitié via des prescripteurs</a:t>
            </a:r>
            <a:endParaRPr lang="en-US" sz="990" dirty="0"/>
          </a:p>
          <a:p>
            <a:pPr marL="134544" indent="-134544" algn="l">
              <a:lnSpc>
                <a:spcPts val="1386"/>
              </a:lnSpc>
              <a:buSzPct val="100000"/>
              <a:buChar char="•"/>
            </a:pPr>
            <a:r>
              <a:rPr lang="en-US" sz="990" dirty="0">
                <a:solidFill>
                  <a:srgbClr val="C9DBEE"/>
                </a:solidFill>
                <a:latin typeface="Source Sans 3" pitchFamily="34" charset="0"/>
                <a:ea typeface="Source Sans 3" pitchFamily="34" charset="-122"/>
                <a:cs typeface="Source Sans 3" pitchFamily="34" charset="-120"/>
              </a:rPr>
              <a:t>80 % des locataires invités terminent la capture ; 60 % de constats signés par les deux parties sans déplacement</a:t>
            </a:r>
            <a:endParaRPr lang="en-US" sz="990" dirty="0"/>
          </a:p>
          <a:p>
            <a:pPr marL="134544" indent="-134544" algn="l">
              <a:lnSpc>
                <a:spcPts val="1386"/>
              </a:lnSpc>
              <a:buSzPct val="100000"/>
              <a:buChar char="•"/>
            </a:pPr>
            <a:r>
              <a:rPr lang="en-US" sz="990" dirty="0">
                <a:solidFill>
                  <a:srgbClr val="C9DBEE"/>
                </a:solidFill>
                <a:latin typeface="Source Sans 3" pitchFamily="34" charset="0"/>
                <a:ea typeface="Source Sans 3" pitchFamily="34" charset="-122"/>
                <a:cs typeface="Source Sans 3" pitchFamily="34" charset="-120"/>
              </a:rPr>
              <a:t>Coût d’acquisition inférieur à la contribution ; satisfaction d’au moins 8 sur 10</a:t>
            </a:r>
            <a:endParaRPr lang="en-US" sz="990" dirty="0"/>
          </a:p>
        </p:txBody>
      </p:sp>
      <p:sp>
        <p:nvSpPr>
          <p:cNvPr id="12" name="Text 10"/>
          <p:cNvSpPr/>
          <p:nvPr/>
        </p:nvSpPr>
        <p:spPr>
          <a:xfrm>
            <a:off x="4529511" y="3139926"/>
            <a:ext cx="3226847" cy="170681"/>
          </a:xfrm>
          <a:prstGeom prst="rect">
            <a:avLst/>
          </a:prstGeom>
          <a:noFill/>
          <a:ln/>
        </p:spPr>
        <p:txBody>
          <a:bodyPr wrap="square" lIns="0" tIns="0" rIns="0" bIns="0" rtlCol="0" anchor="t">
            <a:normAutofit/>
          </a:bodyPr>
          <a:lstStyle/>
          <a:p>
            <a:pPr marL="0" indent="0" algn="l">
              <a:lnSpc>
                <a:spcPts val="1175"/>
              </a:lnSpc>
              <a:buNone/>
            </a:pPr>
            <a:r>
              <a:rPr lang="en-US" sz="870" dirty="0">
                <a:solidFill>
                  <a:srgbClr val="8FC4E8"/>
                </a:solidFill>
                <a:latin typeface="Source Sans 3" pitchFamily="34" charset="0"/>
                <a:ea typeface="Source Sans 3" pitchFamily="34" charset="-122"/>
                <a:cs typeface="Source Sans 3" pitchFamily="34" charset="-120"/>
              </a:rPr>
              <a:t>Libère la phase 2 : 5,9 à 9,9 k€</a:t>
            </a:r>
            <a:endParaRPr lang="en-US" sz="870" dirty="0"/>
          </a:p>
        </p:txBody>
      </p:sp>
      <p:sp>
        <p:nvSpPr>
          <p:cNvPr id="13" name="Shape 11"/>
          <p:cNvSpPr/>
          <p:nvPr/>
        </p:nvSpPr>
        <p:spPr>
          <a:xfrm>
            <a:off x="7941701" y="1645636"/>
            <a:ext cx="3437551" cy="1791914"/>
          </a:xfrm>
          <a:prstGeom prst="rect">
            <a:avLst/>
          </a:prstGeom>
          <a:solidFill>
            <a:srgbClr val="0B4A86"/>
          </a:solidFill>
          <a:ln/>
        </p:spPr>
      </p:sp>
      <p:sp>
        <p:nvSpPr>
          <p:cNvPr id="14" name="Shape 12"/>
          <p:cNvSpPr/>
          <p:nvPr/>
        </p:nvSpPr>
        <p:spPr>
          <a:xfrm>
            <a:off x="7941701" y="1664686"/>
            <a:ext cx="3437551" cy="0"/>
          </a:xfrm>
          <a:prstGeom prst="line">
            <a:avLst/>
          </a:prstGeom>
          <a:noFill/>
          <a:ln w="38100">
            <a:solidFill>
              <a:srgbClr val="8FC4E8"/>
            </a:solidFill>
            <a:prstDash val="solid"/>
          </a:ln>
        </p:spPr>
      </p:sp>
      <p:sp>
        <p:nvSpPr>
          <p:cNvPr id="15" name="Text 13"/>
          <p:cNvSpPr/>
          <p:nvPr/>
        </p:nvSpPr>
        <p:spPr>
          <a:xfrm>
            <a:off x="8094047" y="1832763"/>
            <a:ext cx="3226847" cy="176115"/>
          </a:xfrm>
          <a:prstGeom prst="rect">
            <a:avLst/>
          </a:prstGeom>
          <a:noFill/>
          <a:ln/>
        </p:spPr>
        <p:txBody>
          <a:bodyPr wrap="square" lIns="0" tIns="0" rIns="0" bIns="0" rtlCol="0" anchor="t">
            <a:normAutofit/>
          </a:bodyPr>
          <a:lstStyle/>
          <a:p>
            <a:pPr marL="0" indent="0" algn="l">
              <a:lnSpc>
                <a:spcPts val="1223"/>
              </a:lnSpc>
              <a:buNone/>
            </a:pPr>
            <a:r>
              <a:rPr lang="en-US" sz="874" kern="0" spc="100" dirty="0">
                <a:solidFill>
                  <a:srgbClr val="8FC4E8"/>
                </a:solidFill>
                <a:latin typeface="Source Sans 3" pitchFamily="34" charset="0"/>
                <a:ea typeface="Source Sans 3" pitchFamily="34" charset="-122"/>
                <a:cs typeface="Source Sans 3" pitchFamily="34" charset="-120"/>
              </a:rPr>
              <a:t>PORTE G2 · FAUT-IL ÉTENDRE ?</a:t>
            </a:r>
            <a:endParaRPr lang="en-US" sz="874" dirty="0"/>
          </a:p>
        </p:txBody>
      </p:sp>
      <p:sp>
        <p:nvSpPr>
          <p:cNvPr id="16" name="Text 14"/>
          <p:cNvSpPr/>
          <p:nvPr/>
        </p:nvSpPr>
        <p:spPr>
          <a:xfrm>
            <a:off x="8213503" y="2034195"/>
            <a:ext cx="3099771" cy="1080405"/>
          </a:xfrm>
          <a:prstGeom prst="rect">
            <a:avLst/>
          </a:prstGeom>
          <a:noFill/>
          <a:ln/>
        </p:spPr>
        <p:txBody>
          <a:bodyPr wrap="square" lIns="0" tIns="0" rIns="0" bIns="0" rtlCol="0" anchor="t">
            <a:normAutofit/>
          </a:bodyPr>
          <a:lstStyle/>
          <a:p>
            <a:pPr marL="134544" indent="-134544" algn="l">
              <a:lnSpc>
                <a:spcPts val="1386"/>
              </a:lnSpc>
              <a:buSzPct val="100000"/>
              <a:buChar char="•"/>
            </a:pPr>
            <a:r>
              <a:rPr lang="en-US" sz="990" dirty="0">
                <a:solidFill>
                  <a:srgbClr val="C9DBEE"/>
                </a:solidFill>
                <a:latin typeface="Source Sans 3" pitchFamily="34" charset="0"/>
                <a:ea typeface="Source Sans 3" pitchFamily="34" charset="-122"/>
                <a:cs typeface="Source Sans 3" pitchFamily="34" charset="-120"/>
              </a:rPr>
              <a:t>Contribution de la saison couvrant les dépenses de phase 2 et les frais fixes : 150 à 310 packs selon le canal</a:t>
            </a:r>
            <a:endParaRPr lang="en-US" sz="990" dirty="0"/>
          </a:p>
          <a:p>
            <a:pPr marL="134544" indent="-134544" algn="l">
              <a:lnSpc>
                <a:spcPts val="1386"/>
              </a:lnSpc>
              <a:buSzPct val="100000"/>
              <a:buChar char="•"/>
            </a:pPr>
            <a:r>
              <a:rPr lang="en-US" sz="990" dirty="0">
                <a:solidFill>
                  <a:srgbClr val="C9DBEE"/>
                </a:solidFill>
                <a:latin typeface="Source Sans 3" pitchFamily="34" charset="0"/>
                <a:ea typeface="Source Sans 3" pitchFamily="34" charset="-122"/>
                <a:cs typeface="Source Sans 3" pitchFamily="34" charset="-120"/>
              </a:rPr>
              <a:t>10 prescripteurs actifs ; sorties mesurées sur les baux courts</a:t>
            </a:r>
            <a:endParaRPr lang="en-US" sz="990" dirty="0"/>
          </a:p>
          <a:p>
            <a:pPr marL="134544" indent="-134544" algn="l">
              <a:lnSpc>
                <a:spcPts val="1386"/>
              </a:lnSpc>
              <a:buSzPct val="100000"/>
              <a:buChar char="•"/>
            </a:pPr>
            <a:r>
              <a:rPr lang="en-US" sz="990" dirty="0">
                <a:solidFill>
                  <a:srgbClr val="C9DBEE"/>
                </a:solidFill>
                <a:latin typeface="Source Sans 3" pitchFamily="34" charset="0"/>
                <a:ea typeface="Source Sans 3" pitchFamily="34" charset="-122"/>
                <a:cs typeface="Source Sans 3" pitchFamily="34" charset="-120"/>
              </a:rPr>
              <a:t>Lyon ajoutée, puis réseaux de relocation et RH mobilité</a:t>
            </a:r>
            <a:endParaRPr lang="en-US" sz="990" dirty="0"/>
          </a:p>
        </p:txBody>
      </p:sp>
      <p:sp>
        <p:nvSpPr>
          <p:cNvPr id="17" name="Text 15"/>
          <p:cNvSpPr/>
          <p:nvPr/>
        </p:nvSpPr>
        <p:spPr>
          <a:xfrm>
            <a:off x="8094047" y="3139926"/>
            <a:ext cx="3226847" cy="170681"/>
          </a:xfrm>
          <a:prstGeom prst="rect">
            <a:avLst/>
          </a:prstGeom>
          <a:noFill/>
          <a:ln/>
        </p:spPr>
        <p:txBody>
          <a:bodyPr wrap="square" lIns="0" tIns="0" rIns="0" bIns="0" rtlCol="0" anchor="t">
            <a:normAutofit/>
          </a:bodyPr>
          <a:lstStyle/>
          <a:p>
            <a:pPr marL="0" indent="0" algn="l">
              <a:lnSpc>
                <a:spcPts val="1175"/>
              </a:lnSpc>
              <a:buNone/>
            </a:pPr>
            <a:r>
              <a:rPr lang="en-US" sz="870" dirty="0">
                <a:solidFill>
                  <a:srgbClr val="8FC4E8"/>
                </a:solidFill>
                <a:latin typeface="Source Sans 3" pitchFamily="34" charset="0"/>
                <a:ea typeface="Source Sans 3" pitchFamily="34" charset="-122"/>
                <a:cs typeface="Source Sans 3" pitchFamily="34" charset="-120"/>
              </a:rPr>
              <a:t>Libère la phase 3 : extension sous conditions</a:t>
            </a:r>
            <a:endParaRPr lang="en-US" sz="870" dirty="0"/>
          </a:p>
        </p:txBody>
      </p:sp>
      <p:sp>
        <p:nvSpPr>
          <p:cNvPr id="18" name="Shape 16"/>
          <p:cNvSpPr/>
          <p:nvPr/>
        </p:nvSpPr>
        <p:spPr>
          <a:xfrm>
            <a:off x="812720" y="3589896"/>
            <a:ext cx="6375588" cy="2252120"/>
          </a:xfrm>
          <a:prstGeom prst="rect">
            <a:avLst/>
          </a:prstGeom>
          <a:solidFill>
            <a:srgbClr val="0B4A86"/>
          </a:solidFill>
          <a:ln/>
        </p:spPr>
      </p:sp>
      <p:sp>
        <p:nvSpPr>
          <p:cNvPr id="19" name="Text 17"/>
          <p:cNvSpPr/>
          <p:nvPr/>
        </p:nvSpPr>
        <p:spPr>
          <a:xfrm>
            <a:off x="965065" y="3716877"/>
            <a:ext cx="6253024" cy="181459"/>
          </a:xfrm>
          <a:prstGeom prst="rect">
            <a:avLst/>
          </a:prstGeom>
          <a:noFill/>
          <a:ln/>
        </p:spPr>
        <p:txBody>
          <a:bodyPr wrap="square" lIns="0" tIns="0" rIns="0" bIns="0" rtlCol="0" anchor="t">
            <a:normAutofit/>
          </a:bodyPr>
          <a:lstStyle/>
          <a:p>
            <a:pPr marL="0" indent="0" algn="l">
              <a:lnSpc>
                <a:spcPts val="1270"/>
              </a:lnSpc>
              <a:buNone/>
            </a:pPr>
            <a:r>
              <a:rPr lang="en-US" sz="907" b="1" dirty="0">
                <a:solidFill>
                  <a:srgbClr val="F6F8FB"/>
                </a:solidFill>
                <a:latin typeface="Source Sans 3" pitchFamily="34" charset="0"/>
                <a:ea typeface="Source Sans 3" pitchFamily="34" charset="-122"/>
                <a:cs typeface="Source Sans 3" pitchFamily="34" charset="-120"/>
              </a:rPr>
              <a:t>Emploi des fonds sur douze mois, hors taxes</a:t>
            </a:r>
            <a:endParaRPr lang="en-US" sz="907"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976658" y="3948023"/>
          <a:ext cx="6059304" cy="1767006"/>
        </p:xfrm>
        <a:graphic>
          <a:graphicData uri="http://schemas.openxmlformats.org/drawingml/2006/table">
            <a:tbl>
              <a:tblPr/>
              <a:tblGrid>
                <a:gridCol w="4241513">
                  <a:extLst>
                    <a:ext uri="{9D8B030D-6E8A-4147-A177-3AD203B41FA5}">
                      <a16:colId xmlns:a16="http://schemas.microsoft.com/office/drawing/2014/main" val="20000"/>
                    </a:ext>
                  </a:extLst>
                </a:gridCol>
                <a:gridCol w="1817791">
                  <a:extLst>
                    <a:ext uri="{9D8B030D-6E8A-4147-A177-3AD203B41FA5}">
                      <a16:colId xmlns:a16="http://schemas.microsoft.com/office/drawing/2014/main" val="20001"/>
                    </a:ext>
                  </a:extLst>
                </a:gridCol>
              </a:tblGrid>
              <a:tr h="294456">
                <a:tc>
                  <a:txBody>
                    <a:bodyPr/>
                    <a:lstStyle/>
                    <a:p>
                      <a:pPr marL="0" indent="0">
                        <a:lnSpc>
                          <a:spcPts val="1465"/>
                        </a:lnSpc>
                        <a:buNone/>
                      </a:pPr>
                      <a:r>
                        <a:rPr lang="en-US" sz="1046" b="1" dirty="0">
                          <a:solidFill>
                            <a:srgbClr val="F6F8FB"/>
                          </a:solidFill>
                          <a:latin typeface="Source Sans 3" pitchFamily="34" charset="0"/>
                          <a:ea typeface="Source Sans 3" pitchFamily="34" charset="-122"/>
                          <a:cs typeface="Source Sans 3" pitchFamily="34" charset="-120"/>
                        </a:rPr>
                        <a:t>Poste</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4E7BA5"/>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4E7BA5"/>
                      </a:solidFill>
                      <a:prstDash val="solid"/>
                      <a:round/>
                      <a:headEnd type="none" w="med" len="med"/>
                      <a:tailEnd type="none" w="med" len="med"/>
                    </a:lnB>
                    <a:solidFill>
                      <a:srgbClr val="1E588F"/>
                    </a:solidFill>
                  </a:tcPr>
                </a:tc>
                <a:tc>
                  <a:txBody>
                    <a:bodyPr/>
                    <a:lstStyle/>
                    <a:p>
                      <a:pPr marL="0" indent="0" algn="r">
                        <a:lnSpc>
                          <a:spcPts val="1465"/>
                        </a:lnSpc>
                        <a:buNone/>
                      </a:pPr>
                      <a:r>
                        <a:rPr lang="en-US" sz="1046" b="1" dirty="0">
                          <a:solidFill>
                            <a:srgbClr val="F6F8FB"/>
                          </a:solidFill>
                          <a:latin typeface="Source Sans 3" pitchFamily="34" charset="0"/>
                          <a:ea typeface="Source Sans 3" pitchFamily="34" charset="-122"/>
                          <a:cs typeface="Source Sans 3" pitchFamily="34" charset="-120"/>
                        </a:rPr>
                        <a:t>Montant</a:t>
                      </a:r>
                      <a:endParaRPr lang="en-US" sz="1046" dirty="0">
                        <a:latin typeface="Source Sans 3" charset="0"/>
                        <a:ea typeface="Source Sans 3" charset="0"/>
                        <a:cs typeface="Source Sans 3" charset="0"/>
                      </a:endParaRPr>
                    </a:p>
                  </a:txBody>
                  <a:tcPr marL="46506" marR="46506" marT="46506" marB="46506">
                    <a:lnL w="12700" cap="flat" cmpd="sng" algn="ctr">
                      <a:solidFill>
                        <a:srgbClr val="4E7BA5"/>
                      </a:solidFill>
                      <a:prstDash val="solid"/>
                      <a:round/>
                      <a:headEnd type="none" w="med" len="med"/>
                      <a:tailEnd type="none" w="med" len="med"/>
                    </a:lnL>
                    <a:lnR w="12700" cap="flat" cmpd="sng" algn="ctr">
                      <a:solidFill>
                        <a:srgbClr val="4E7BA5"/>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4E7BA5"/>
                      </a:solidFill>
                      <a:prstDash val="solid"/>
                      <a:round/>
                      <a:headEnd type="none" w="med" len="med"/>
                      <a:tailEnd type="none" w="med" len="med"/>
                    </a:lnB>
                    <a:solidFill>
                      <a:srgbClr val="1E588F"/>
                    </a:solidFill>
                  </a:tcPr>
                </a:tc>
                <a:extLst>
                  <a:ext uri="{0D108BD9-81ED-4DB2-BD59-A6C34878D82A}">
                    <a16:rowId xmlns:a16="http://schemas.microsoft.com/office/drawing/2014/main" val="10000"/>
                  </a:ext>
                </a:extLst>
              </a:tr>
              <a:tr h="294456">
                <a:tc>
                  <a:txBody>
                    <a:bodyPr/>
                    <a:lstStyle/>
                    <a:p>
                      <a:pPr marL="0" indent="0">
                        <a:lnSpc>
                          <a:spcPts val="1465"/>
                        </a:lnSpc>
                        <a:buNone/>
                      </a:pPr>
                      <a:r>
                        <a:rPr lang="en-US" sz="1046" dirty="0">
                          <a:solidFill>
                            <a:srgbClr val="C9DBEE"/>
                          </a:solidFill>
                          <a:latin typeface="Source Sans 3" pitchFamily="34" charset="0"/>
                          <a:ea typeface="Source Sans 3" pitchFamily="34" charset="-122"/>
                          <a:cs typeface="Source Sans 3" pitchFamily="34" charset="-120"/>
                        </a:rPr>
                        <a:t>Avocat : constat à distance, CGV propriétaire, articles 28 et 54, revue</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40719E"/>
                      </a:solidFill>
                      <a:prstDash val="solid"/>
                      <a:round/>
                      <a:headEnd type="none" w="med" len="med"/>
                      <a:tailEnd type="none" w="med" len="med"/>
                    </a:lnR>
                    <a:lnT w="12700" cap="flat" cmpd="sng" algn="ctr">
                      <a:solidFill>
                        <a:srgbClr val="4E7BA5"/>
                      </a:solidFill>
                      <a:prstDash val="solid"/>
                      <a:round/>
                      <a:headEnd type="none" w="med" len="med"/>
                      <a:tailEnd type="none" w="med" len="med"/>
                    </a:lnT>
                    <a:lnB w="12700" cap="flat" cmpd="sng" algn="ctr">
                      <a:solidFill>
                        <a:srgbClr val="40719E"/>
                      </a:solidFill>
                      <a:prstDash val="solid"/>
                      <a:round/>
                      <a:headEnd type="none" w="med" len="med"/>
                      <a:tailEnd type="none" w="med" len="med"/>
                    </a:lnB>
                  </a:tcPr>
                </a:tc>
                <a:tc>
                  <a:txBody>
                    <a:bodyPr/>
                    <a:lstStyle/>
                    <a:p>
                      <a:pPr marL="0" indent="0" algn="r">
                        <a:lnSpc>
                          <a:spcPts val="1465"/>
                        </a:lnSpc>
                        <a:buNone/>
                      </a:pPr>
                      <a:r>
                        <a:rPr lang="en-US" sz="1046" dirty="0">
                          <a:solidFill>
                            <a:srgbClr val="C9DBEE"/>
                          </a:solidFill>
                          <a:latin typeface="Source Sans 3" pitchFamily="34" charset="0"/>
                          <a:ea typeface="Source Sans 3" pitchFamily="34" charset="-122"/>
                          <a:cs typeface="Source Sans 3" pitchFamily="34" charset="-120"/>
                        </a:rPr>
                        <a:t>3,5 à 5,5 k€</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40719E"/>
                      </a:solidFill>
                      <a:prstDash val="solid"/>
                      <a:round/>
                      <a:headEnd type="none" w="med" len="med"/>
                      <a:tailEnd type="none" w="med" len="med"/>
                    </a:lnR>
                    <a:lnT w="12700" cap="flat" cmpd="sng" algn="ctr">
                      <a:solidFill>
                        <a:srgbClr val="4E7BA5"/>
                      </a:solidFill>
                      <a:prstDash val="solid"/>
                      <a:round/>
                      <a:headEnd type="none" w="med" len="med"/>
                      <a:tailEnd type="none" w="med" len="med"/>
                    </a:lnT>
                    <a:lnB w="12700" cap="flat" cmpd="sng" algn="ctr">
                      <a:solidFill>
                        <a:srgbClr val="40719E"/>
                      </a:solidFill>
                      <a:prstDash val="solid"/>
                      <a:round/>
                      <a:headEnd type="none" w="med" len="med"/>
                      <a:tailEnd type="none" w="med" len="med"/>
                    </a:lnB>
                  </a:tcPr>
                </a:tc>
                <a:extLst>
                  <a:ext uri="{0D108BD9-81ED-4DB2-BD59-A6C34878D82A}">
                    <a16:rowId xmlns:a16="http://schemas.microsoft.com/office/drawing/2014/main" val="10001"/>
                  </a:ext>
                </a:extLst>
              </a:tr>
              <a:tr h="294456">
                <a:tc>
                  <a:txBody>
                    <a:bodyPr/>
                    <a:lstStyle/>
                    <a:p>
                      <a:pPr marL="0" indent="0">
                        <a:lnSpc>
                          <a:spcPts val="1465"/>
                        </a:lnSpc>
                        <a:buNone/>
                      </a:pPr>
                      <a:r>
                        <a:rPr lang="en-US" sz="1046" dirty="0">
                          <a:solidFill>
                            <a:srgbClr val="C9DBEE"/>
                          </a:solidFill>
                          <a:latin typeface="Source Sans 3" pitchFamily="34" charset="0"/>
                          <a:ea typeface="Source Sans 3" pitchFamily="34" charset="-122"/>
                          <a:cs typeface="Source Sans 3" pitchFamily="34" charset="-120"/>
                        </a:rPr>
                        <a:t>Déplacements et événements prescripteurs</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40719E"/>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40719E"/>
                      </a:solidFill>
                      <a:prstDash val="solid"/>
                      <a:round/>
                      <a:headEnd type="none" w="med" len="med"/>
                      <a:tailEnd type="none" w="med" len="med"/>
                    </a:lnB>
                  </a:tcPr>
                </a:tc>
                <a:tc>
                  <a:txBody>
                    <a:bodyPr/>
                    <a:lstStyle/>
                    <a:p>
                      <a:pPr marL="0" indent="0" algn="r">
                        <a:lnSpc>
                          <a:spcPts val="1465"/>
                        </a:lnSpc>
                        <a:buNone/>
                      </a:pPr>
                      <a:r>
                        <a:rPr lang="en-US" sz="1046" dirty="0">
                          <a:solidFill>
                            <a:srgbClr val="C9DBEE"/>
                          </a:solidFill>
                          <a:latin typeface="Source Sans 3" pitchFamily="34" charset="0"/>
                          <a:ea typeface="Source Sans 3" pitchFamily="34" charset="-122"/>
                          <a:cs typeface="Source Sans 3" pitchFamily="34" charset="-120"/>
                        </a:rPr>
                        <a:t>3,5 à 7 k€</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40719E"/>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40719E"/>
                      </a:solidFill>
                      <a:prstDash val="solid"/>
                      <a:round/>
                      <a:headEnd type="none" w="med" len="med"/>
                      <a:tailEnd type="none" w="med" len="med"/>
                    </a:lnB>
                  </a:tcPr>
                </a:tc>
                <a:extLst>
                  <a:ext uri="{0D108BD9-81ED-4DB2-BD59-A6C34878D82A}">
                    <a16:rowId xmlns:a16="http://schemas.microsoft.com/office/drawing/2014/main" val="10002"/>
                  </a:ext>
                </a:extLst>
              </a:tr>
              <a:tr h="294546">
                <a:tc>
                  <a:txBody>
                    <a:bodyPr/>
                    <a:lstStyle/>
                    <a:p>
                      <a:pPr marL="0" indent="0">
                        <a:lnSpc>
                          <a:spcPts val="1465"/>
                        </a:lnSpc>
                        <a:buNone/>
                      </a:pPr>
                      <a:r>
                        <a:rPr lang="en-US" sz="1046" dirty="0">
                          <a:solidFill>
                            <a:srgbClr val="C9DBEE"/>
                          </a:solidFill>
                          <a:latin typeface="Source Sans 3" pitchFamily="34" charset="0"/>
                          <a:ea typeface="Source Sans 3" pitchFamily="34" charset="-122"/>
                          <a:cs typeface="Source Sans 3" pitchFamily="34" charset="-120"/>
                        </a:rPr>
                        <a:t>Contenus FR et EN pour propriétaires</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40719E"/>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40719E"/>
                      </a:solidFill>
                      <a:prstDash val="solid"/>
                      <a:round/>
                      <a:headEnd type="none" w="med" len="med"/>
                      <a:tailEnd type="none" w="med" len="med"/>
                    </a:lnB>
                  </a:tcPr>
                </a:tc>
                <a:tc>
                  <a:txBody>
                    <a:bodyPr/>
                    <a:lstStyle/>
                    <a:p>
                      <a:pPr marL="0" indent="0" algn="r">
                        <a:lnSpc>
                          <a:spcPts val="1465"/>
                        </a:lnSpc>
                        <a:buNone/>
                      </a:pPr>
                      <a:r>
                        <a:rPr lang="en-US" sz="1046" dirty="0">
                          <a:solidFill>
                            <a:srgbClr val="C9DBEE"/>
                          </a:solidFill>
                          <a:latin typeface="Source Sans 3" pitchFamily="34" charset="0"/>
                          <a:ea typeface="Source Sans 3" pitchFamily="34" charset="-122"/>
                          <a:cs typeface="Source Sans 3" pitchFamily="34" charset="-120"/>
                        </a:rPr>
                        <a:t>3 à 5 k€</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40719E"/>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40719E"/>
                      </a:solidFill>
                      <a:prstDash val="solid"/>
                      <a:round/>
                      <a:headEnd type="none" w="med" len="med"/>
                      <a:tailEnd type="none" w="med" len="med"/>
                    </a:lnB>
                  </a:tcPr>
                </a:tc>
                <a:extLst>
                  <a:ext uri="{0D108BD9-81ED-4DB2-BD59-A6C34878D82A}">
                    <a16:rowId xmlns:a16="http://schemas.microsoft.com/office/drawing/2014/main" val="10003"/>
                  </a:ext>
                </a:extLst>
              </a:tr>
              <a:tr h="294546">
                <a:tc>
                  <a:txBody>
                    <a:bodyPr/>
                    <a:lstStyle/>
                    <a:p>
                      <a:pPr marL="0" indent="0">
                        <a:lnSpc>
                          <a:spcPts val="1465"/>
                        </a:lnSpc>
                        <a:buNone/>
                      </a:pPr>
                      <a:r>
                        <a:rPr lang="en-US" sz="1046" dirty="0">
                          <a:solidFill>
                            <a:srgbClr val="C9DBEE"/>
                          </a:solidFill>
                          <a:latin typeface="Source Sans 3" pitchFamily="34" charset="0"/>
                          <a:ea typeface="Source Sans 3" pitchFamily="34" charset="-122"/>
                          <a:cs typeface="Source Sans 3" pitchFamily="34" charset="-120"/>
                        </a:rPr>
                        <a:t>Outils, kit propriétaire, démonstration vidéo, médiateur, test d’acquisition</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40719E"/>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40719E"/>
                      </a:solidFill>
                      <a:prstDash val="solid"/>
                      <a:round/>
                      <a:headEnd type="none" w="med" len="med"/>
                      <a:tailEnd type="none" w="med" len="med"/>
                    </a:lnB>
                  </a:tcPr>
                </a:tc>
                <a:tc>
                  <a:txBody>
                    <a:bodyPr/>
                    <a:lstStyle/>
                    <a:p>
                      <a:pPr marL="0" indent="0" algn="r">
                        <a:lnSpc>
                          <a:spcPts val="1465"/>
                        </a:lnSpc>
                        <a:buNone/>
                      </a:pPr>
                      <a:r>
                        <a:rPr lang="en-US" sz="1046" dirty="0">
                          <a:solidFill>
                            <a:srgbClr val="C9DBEE"/>
                          </a:solidFill>
                          <a:latin typeface="Source Sans 3" pitchFamily="34" charset="0"/>
                          <a:ea typeface="Source Sans 3" pitchFamily="34" charset="-122"/>
                          <a:cs typeface="Source Sans 3" pitchFamily="34" charset="-120"/>
                        </a:rPr>
                        <a:t>3,2 à 4,7 k€</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40719E"/>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40719E"/>
                      </a:solidFill>
                      <a:prstDash val="solid"/>
                      <a:round/>
                      <a:headEnd type="none" w="med" len="med"/>
                      <a:tailEnd type="none" w="med" len="med"/>
                    </a:lnB>
                  </a:tcPr>
                </a:tc>
                <a:extLst>
                  <a:ext uri="{0D108BD9-81ED-4DB2-BD59-A6C34878D82A}">
                    <a16:rowId xmlns:a16="http://schemas.microsoft.com/office/drawing/2014/main" val="10004"/>
                  </a:ext>
                </a:extLst>
              </a:tr>
              <a:tr h="294546">
                <a:tc>
                  <a:txBody>
                    <a:bodyPr/>
                    <a:lstStyle/>
                    <a:p>
                      <a:pPr marL="0" indent="0">
                        <a:lnSpc>
                          <a:spcPts val="1465"/>
                        </a:lnSpc>
                        <a:buNone/>
                      </a:pPr>
                      <a:r>
                        <a:rPr lang="en-US" sz="1046" dirty="0">
                          <a:solidFill>
                            <a:srgbClr val="C9DBEE"/>
                          </a:solidFill>
                          <a:latin typeface="Source Sans 3" pitchFamily="34" charset="0"/>
                          <a:ea typeface="Source Sans 3" pitchFamily="34" charset="-122"/>
                          <a:cs typeface="Source Sans 3" pitchFamily="34" charset="-120"/>
                        </a:rPr>
                        <a:t>Total, hors assurance, signature et commissions</a:t>
                      </a:r>
                      <a:endParaRPr lang="en-US" sz="1046" dirty="0">
                        <a:latin typeface="Source Sans 3" charset="0"/>
                        <a:ea typeface="Source Sans 3" charset="0"/>
                        <a:cs typeface="Source Sans 3" charset="0"/>
                      </a:endParaRPr>
                    </a:p>
                  </a:txBody>
                  <a:tcPr marL="46506" marR="46506" marT="46506" marB="46506">
                    <a:lnL w="12700" cap="flat" cmpd="sng" algn="ctr">
                      <a:solidFill>
                        <a:srgbClr val="40719E"/>
                      </a:solidFill>
                      <a:prstDash val="solid"/>
                      <a:round/>
                      <a:headEnd type="none" w="med" len="med"/>
                      <a:tailEnd type="none" w="med" len="med"/>
                    </a:lnL>
                    <a:lnR w="12700" cap="flat" cmpd="sng" algn="ctr">
                      <a:solidFill>
                        <a:srgbClr val="39648D"/>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39648D"/>
                      </a:solidFill>
                      <a:prstDash val="solid"/>
                      <a:round/>
                      <a:headEnd type="none" w="med" len="med"/>
                      <a:tailEnd type="none" w="med" len="med"/>
                    </a:lnB>
                    <a:solidFill>
                      <a:srgbClr val="033A70"/>
                    </a:solidFill>
                  </a:tcPr>
                </a:tc>
                <a:tc>
                  <a:txBody>
                    <a:bodyPr/>
                    <a:lstStyle/>
                    <a:p>
                      <a:pPr marL="0" indent="0" algn="r">
                        <a:lnSpc>
                          <a:spcPts val="1465"/>
                        </a:lnSpc>
                        <a:buNone/>
                      </a:pPr>
                      <a:r>
                        <a:rPr lang="en-US" sz="1046" dirty="0">
                          <a:solidFill>
                            <a:srgbClr val="C9DBEE"/>
                          </a:solidFill>
                          <a:latin typeface="Source Sans 3" pitchFamily="34" charset="0"/>
                          <a:ea typeface="Source Sans 3" pitchFamily="34" charset="-122"/>
                          <a:cs typeface="Source Sans 3" pitchFamily="34" charset="-120"/>
                        </a:rPr>
                        <a:t>13 à 22 k€</a:t>
                      </a:r>
                      <a:endParaRPr lang="en-US" sz="1046" dirty="0">
                        <a:latin typeface="Source Sans 3" charset="0"/>
                        <a:ea typeface="Source Sans 3" charset="0"/>
                        <a:cs typeface="Source Sans 3" charset="0"/>
                      </a:endParaRPr>
                    </a:p>
                  </a:txBody>
                  <a:tcPr marL="46506" marR="46506" marT="46506" marB="46506">
                    <a:lnL w="12700" cap="flat" cmpd="sng" algn="ctr">
                      <a:solidFill>
                        <a:srgbClr val="39648D"/>
                      </a:solidFill>
                      <a:prstDash val="solid"/>
                      <a:round/>
                      <a:headEnd type="none" w="med" len="med"/>
                      <a:tailEnd type="none" w="med" len="med"/>
                    </a:lnL>
                    <a:lnR w="12700" cap="flat" cmpd="sng" algn="ctr">
                      <a:solidFill>
                        <a:srgbClr val="39648D"/>
                      </a:solidFill>
                      <a:prstDash val="solid"/>
                      <a:round/>
                      <a:headEnd type="none" w="med" len="med"/>
                      <a:tailEnd type="none" w="med" len="med"/>
                    </a:lnR>
                    <a:lnT w="12700" cap="flat" cmpd="sng" algn="ctr">
                      <a:solidFill>
                        <a:srgbClr val="40719E"/>
                      </a:solidFill>
                      <a:prstDash val="solid"/>
                      <a:round/>
                      <a:headEnd type="none" w="med" len="med"/>
                      <a:tailEnd type="none" w="med" len="med"/>
                    </a:lnT>
                    <a:lnB w="12700" cap="flat" cmpd="sng" algn="ctr">
                      <a:solidFill>
                        <a:srgbClr val="39648D"/>
                      </a:solidFill>
                      <a:prstDash val="solid"/>
                      <a:round/>
                      <a:headEnd type="none" w="med" len="med"/>
                      <a:tailEnd type="none" w="med" len="med"/>
                    </a:lnB>
                    <a:solidFill>
                      <a:srgbClr val="033A70"/>
                    </a:solidFill>
                  </a:tcPr>
                </a:tc>
                <a:extLst>
                  <a:ext uri="{0D108BD9-81ED-4DB2-BD59-A6C34878D82A}">
                    <a16:rowId xmlns:a16="http://schemas.microsoft.com/office/drawing/2014/main" val="10005"/>
                  </a:ext>
                </a:extLst>
              </a:tr>
            </a:tbl>
          </a:graphicData>
        </a:graphic>
      </p:graphicFrame>
      <p:sp>
        <p:nvSpPr>
          <p:cNvPr id="21" name="Shape 18"/>
          <p:cNvSpPr/>
          <p:nvPr/>
        </p:nvSpPr>
        <p:spPr>
          <a:xfrm>
            <a:off x="7315292" y="3589896"/>
            <a:ext cx="4063961" cy="2252120"/>
          </a:xfrm>
          <a:prstGeom prst="rect">
            <a:avLst/>
          </a:prstGeom>
          <a:solidFill>
            <a:srgbClr val="0380A5"/>
          </a:solidFill>
          <a:ln/>
        </p:spPr>
      </p:sp>
      <p:sp>
        <p:nvSpPr>
          <p:cNvPr id="22" name="Text 19"/>
          <p:cNvSpPr/>
          <p:nvPr/>
        </p:nvSpPr>
        <p:spPr>
          <a:xfrm>
            <a:off x="7467637" y="3716877"/>
            <a:ext cx="3872048" cy="181368"/>
          </a:xfrm>
          <a:prstGeom prst="rect">
            <a:avLst/>
          </a:prstGeom>
          <a:noFill/>
          <a:ln/>
        </p:spPr>
        <p:txBody>
          <a:bodyPr wrap="square" lIns="0" tIns="0" rIns="0" bIns="0" rtlCol="0" anchor="t">
            <a:normAutofit/>
          </a:bodyPr>
          <a:lstStyle/>
          <a:p>
            <a:pPr marL="0" indent="0" algn="l">
              <a:lnSpc>
                <a:spcPts val="1270"/>
              </a:lnSpc>
              <a:buNone/>
            </a:pPr>
            <a:r>
              <a:rPr lang="en-US" sz="907" b="1" dirty="0">
                <a:solidFill>
                  <a:srgbClr val="F6F8FB"/>
                </a:solidFill>
                <a:latin typeface="Source Sans 3" pitchFamily="34" charset="0"/>
                <a:ea typeface="Source Sans 3" pitchFamily="34" charset="-122"/>
                <a:cs typeface="Source Sans 3" pitchFamily="34" charset="-120"/>
              </a:rPr>
              <a:t>Ce que nous proposons</a:t>
            </a:r>
            <a:endParaRPr lang="en-US" sz="907" dirty="0"/>
          </a:p>
        </p:txBody>
      </p:sp>
      <p:sp>
        <p:nvSpPr>
          <p:cNvPr id="23" name="Text 20"/>
          <p:cNvSpPr/>
          <p:nvPr/>
        </p:nvSpPr>
        <p:spPr>
          <a:xfrm>
            <a:off x="7467637" y="3936343"/>
            <a:ext cx="3872048" cy="1272874"/>
          </a:xfrm>
          <a:prstGeom prst="rect">
            <a:avLst/>
          </a:prstGeom>
          <a:noFill/>
          <a:ln/>
        </p:spPr>
        <p:txBody>
          <a:bodyPr wrap="square" lIns="0" tIns="0" rIns="0" bIns="0" rtlCol="0" anchor="t">
            <a:normAutofit/>
          </a:bodyPr>
          <a:lstStyle/>
          <a:p>
            <a:pPr marL="0" indent="0" algn="l">
              <a:lnSpc>
                <a:spcPts val="1402"/>
              </a:lnSpc>
              <a:buNone/>
            </a:pPr>
            <a:r>
              <a:rPr lang="en-US" sz="1001" dirty="0">
                <a:solidFill>
                  <a:srgbClr val="F6F8FB"/>
                </a:solidFill>
                <a:latin typeface="Source Sans 3" pitchFamily="34" charset="0"/>
                <a:ea typeface="Source Sans 3" pitchFamily="34" charset="-122"/>
                <a:cs typeface="Source Sans 3" pitchFamily="34" charset="-120"/>
              </a:rPr>
              <a:t>Un financement d’amorçage versé par tranches, chaque tranche libérée par une porte franchie et ses preuves : légalité du constat à distance, disposition à payer, demande réelle, économie unitaire tenue, extension rentable. Montant, instrument et valorisation se négocient sur cette base ; le dossier n’avance aucun chiffre de rentabilité ni de valorisation sans les entrées que la Finance doit encore réunir.</a:t>
            </a:r>
            <a:endParaRPr lang="en-US" sz="1001" dirty="0"/>
          </a:p>
        </p:txBody>
      </p:sp>
      <p:sp>
        <p:nvSpPr>
          <p:cNvPr id="24" name="Text 21"/>
          <p:cNvSpPr/>
          <p:nvPr/>
        </p:nvSpPr>
        <p:spPr>
          <a:xfrm>
            <a:off x="7467637" y="5247308"/>
            <a:ext cx="3872048" cy="493124"/>
          </a:xfrm>
          <a:prstGeom prst="rect">
            <a:avLst/>
          </a:prstGeom>
          <a:noFill/>
          <a:ln/>
        </p:spPr>
        <p:txBody>
          <a:bodyPr wrap="square" lIns="0" tIns="0" rIns="0" bIns="0" rtlCol="0" anchor="t">
            <a:normAutofit/>
          </a:bodyPr>
          <a:lstStyle/>
          <a:p>
            <a:pPr marL="0" indent="0" algn="l">
              <a:lnSpc>
                <a:spcPts val="1386"/>
              </a:lnSpc>
              <a:buNone/>
            </a:pPr>
            <a:r>
              <a:rPr lang="en-US" sz="990" dirty="0">
                <a:solidFill>
                  <a:srgbClr val="C9DBEE"/>
                </a:solidFill>
                <a:latin typeface="Source Sans 3" pitchFamily="34" charset="0"/>
                <a:ea typeface="Source Sans 3" pitchFamily="34" charset="-122"/>
                <a:cs typeface="Source Sans 3" pitchFamily="34" charset="-120"/>
              </a:rPr>
              <a:t>Options de phase 3, sans engagement : service de caution par un partenaire, agences en marque blanche, réactivation de l’offre locataire.</a:t>
            </a:r>
            <a:endParaRPr lang="en-US" sz="990" dirty="0"/>
          </a:p>
        </p:txBody>
      </p:sp>
      <p:sp>
        <p:nvSpPr>
          <p:cNvPr id="25" name="Text 22"/>
          <p:cNvSpPr/>
          <p:nvPr/>
        </p:nvSpPr>
        <p:spPr>
          <a:xfrm>
            <a:off x="812720" y="6238273"/>
            <a:ext cx="10883342" cy="2387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C4E8"/>
                </a:solidFill>
                <a:latin typeface="Source Sans 3" pitchFamily="34" charset="0"/>
                <a:ea typeface="Source Sans 3" pitchFamily="34" charset="-122"/>
                <a:cs typeface="Source Sans 3" pitchFamily="34" charset="-120"/>
              </a:rPr>
              <a:t>Sources : note stratégique §6 et §8 · hypothèses financières V4.1 §8 · 10 / 10</a:t>
            </a:r>
            <a:endParaRPr lang="en-US" sz="1200" dirty="0"/>
          </a:p>
        </p:txBody>
      </p:sp>
    </p:spTree>
  </p:cSld>
  <p:clrMapOvr>
    <a:masterClrMapping/>
  </p:clrMapOvr>
</p:sld>
</file>

<file path=ppt/theme/theme1.xml><?xml version="1.0" encoding="utf-8"?>
<a:theme xmlns:a="http://schemas.openxmlformats.org/drawingml/2006/main" name="Tenu Dossier Investisseurs">
  <a:themeElements>
    <a:clrScheme name="Tenu Dossier Investisseurs">
      <a:dk1>
        <a:srgbClr val="033A70"/>
      </a:dk1>
      <a:lt1>
        <a:srgbClr val="F6F8FB"/>
      </a:lt1>
      <a:dk2>
        <a:srgbClr val="406A93"/>
      </a:dk2>
      <a:lt2>
        <a:srgbClr val="DEE5ED"/>
      </a:lt2>
      <a:accent1>
        <a:srgbClr val="22354A"/>
      </a:accent1>
      <a:accent2>
        <a:srgbClr val="8FC4E8"/>
      </a:accent2>
      <a:accent3>
        <a:srgbClr val="0380A5"/>
      </a:accent3>
      <a:accent4>
        <a:srgbClr val="296297"/>
      </a:accent4>
      <a:accent5>
        <a:srgbClr val="DBEAF9"/>
      </a:accent5>
      <a:accent6>
        <a:srgbClr val="5B6B7B"/>
      </a:accent6>
      <a:hlink>
        <a:srgbClr val="0563C1"/>
      </a:hlink>
      <a:folHlink>
        <a:srgbClr val="954F72"/>
      </a:folHlink>
    </a:clrScheme>
    <a:fontScheme name="Tenu Dossier Investisseurs">
      <a:majorFont>
        <a:latin typeface="Source Sans 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Grand écran</PresentationFormat>
  <Paragraphs>0</Paragraphs>
  <Slides>10</Slides>
  <Notes>10</Notes>
  <HiddenSlides>0</HiddenSlides>
  <MMClips>0</MMClips>
  <ScaleCrop>false</ScaleCrop>
  <HeadingPairs>
    <vt:vector size="4" baseType="variant">
      <vt:variant>
        <vt:lpstr>Thème</vt:lpstr>
      </vt:variant>
      <vt:variant>
        <vt:i4>1</vt:i4>
      </vt:variant>
      <vt:variant>
        <vt:lpstr>Titres des diapositives</vt:lpstr>
      </vt:variant>
      <vt:variant>
        <vt:i4>10</vt:i4>
      </vt:variant>
    </vt:vector>
  </HeadingPairs>
  <TitlesOfParts>
    <vt:vector size="11" baseType="lpstr">
      <vt:lpstr>Tenu Dossier Investisseurs</vt:lpstr>
      <vt:lpstr>Tenu</vt:lpstr>
      <vt:lpstr>Analyse du marché : un parc immense, une plage de débarquement précise</vt:lpstr>
      <vt:lpstr>L’innovation : le locataire capture, le propriétaire valide à distance, la plateforme certifie</vt:lpstr>
      <vt:lpstr>Proposition de valeur : combler les déficits de l’offre actuelle</vt:lpstr>
      <vt:lpstr>Modèle opérationnel : quatre acteurs, cinq phases, des niveaux de service engagés</vt:lpstr>
      <vt:lpstr>Modèle juridique : une seule relation contractuelle, des préalables avant toute vente</vt:lpstr>
      <vt:lpstr>Modèle financier : vente à l’acte, contribution positive dès le premier pack</vt:lpstr>
      <vt:lpstr>Lancement : atteindre les propriétaires par les cabinets de relocation, les écoles en parallèle</vt:lpstr>
      <vt:lpstr>Développement commercial : quatre phases, des preuves avant chaque accélération</vt:lpstr>
      <vt:lpstr>Proposition aux investisseurs : un amorçage libéré par portes, pas par calendrier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Tenu Dossier Investisseurs</dc:title>
  <dc:subject/>
  <dc:creator/>
  <cp:lastModifiedBy>Stève FAYOMI</cp:lastModifiedBy>
  <cp:revision>5</cp:revision>
  <dcterms:created xsi:type="dcterms:W3CDTF">2026-10-29T10:59:34Z</dcterms:created>
  <dcterms:modified xsi:type="dcterms:W3CDTF">2026-10-29T11:41:36Z</dcterms:modified>
</cp:coreProperties>
</file>